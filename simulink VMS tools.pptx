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1104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04A0415-4698-452D-8287-FA7CE5339A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04A0415-4698-452D-8287-FA7CE5339A4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04A0415-4698-452D-8287-FA7CE5339A4E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A691CE37-CB5B-47D0-994C-03E1225AE35C}" type="datetimeFigureOut">
              <a:rPr lang="ko-KR" altLang="en-US" smtClean="0"/>
              <a:t>2019-12-30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4A0415-4698-452D-8287-FA7CE5339A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0549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04A0415-4698-452D-8287-FA7CE5339A4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en-US" altLang="ko-KR" dirty="0" err="1" smtClean="0"/>
              <a:t>Diffplug</a:t>
            </a:r>
            <a:r>
              <a:rPr lang="en-US" altLang="ko-KR" dirty="0"/>
              <a:t> </a:t>
            </a:r>
            <a:r>
              <a:rPr lang="en-US" altLang="ko-KR" dirty="0" smtClean="0"/>
              <a:t>- </a:t>
            </a:r>
            <a:r>
              <a:rPr lang="ko-KR" altLang="en-US" dirty="0" smtClean="0"/>
              <a:t>기능</a:t>
            </a:r>
            <a:endParaRPr lang="en-US" altLang="ko-KR" dirty="0" smtClean="0"/>
          </a:p>
          <a:p>
            <a:r>
              <a:rPr lang="en-US" altLang="ko-KR" dirty="0"/>
              <a:t>2</a:t>
            </a:r>
            <a:r>
              <a:rPr lang="en-US" altLang="ko-KR" dirty="0" smtClean="0"/>
              <a:t>. </a:t>
            </a:r>
            <a:r>
              <a:rPr lang="en-US" altLang="ko-KR" dirty="0" err="1" smtClean="0"/>
              <a:t>Diffplug</a:t>
            </a:r>
            <a:r>
              <a:rPr lang="en-US" altLang="ko-KR" dirty="0" smtClean="0"/>
              <a:t> </a:t>
            </a:r>
            <a:r>
              <a:rPr lang="en-US" altLang="ko-KR" dirty="0"/>
              <a:t>- </a:t>
            </a:r>
            <a:r>
              <a:rPr lang="ko-KR" altLang="en-US" dirty="0" smtClean="0"/>
              <a:t>가격정책</a:t>
            </a:r>
            <a:endParaRPr lang="en-US" altLang="ko-KR" dirty="0" smtClean="0"/>
          </a:p>
          <a:p>
            <a:r>
              <a:rPr lang="en-US" altLang="ko-KR" dirty="0" smtClean="0"/>
              <a:t>3.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 - </a:t>
            </a:r>
            <a:r>
              <a:rPr lang="ko-KR" altLang="en-US" dirty="0"/>
              <a:t>기능</a:t>
            </a:r>
            <a:endParaRPr lang="en-US" altLang="ko-KR" dirty="0"/>
          </a:p>
          <a:p>
            <a:r>
              <a:rPr lang="en-US" altLang="ko-KR" dirty="0" smtClean="0"/>
              <a:t>4.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 </a:t>
            </a:r>
            <a:r>
              <a:rPr lang="en-US" altLang="ko-KR" dirty="0"/>
              <a:t>- </a:t>
            </a:r>
            <a:r>
              <a:rPr lang="ko-KR" altLang="en-US" dirty="0" smtClean="0"/>
              <a:t>가격정</a:t>
            </a:r>
            <a:r>
              <a:rPr lang="ko-KR" altLang="en-US" dirty="0"/>
              <a:t>책</a:t>
            </a:r>
            <a:endParaRPr lang="en-US" altLang="ko-KR" dirty="0"/>
          </a:p>
          <a:p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 smtClean="0"/>
              <a:t>Simulink  diff &amp; merge tools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6959760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Simulink viewer</a:t>
            </a:r>
          </a:p>
          <a:p>
            <a:pPr lvl="1"/>
            <a:r>
              <a:rPr lang="en-US" altLang="ko-KR" dirty="0" smtClean="0"/>
              <a:t>Simulink</a:t>
            </a:r>
            <a:r>
              <a:rPr lang="ko-KR" altLang="en-US" dirty="0" smtClean="0"/>
              <a:t>를 열람할 수 있으나 편집기능은 수행불가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현재 모델의 구성과 작업 </a:t>
            </a:r>
            <a:r>
              <a:rPr lang="ko-KR" altLang="en-US" dirty="0" err="1" smtClean="0"/>
              <a:t>트리를</a:t>
            </a:r>
            <a:r>
              <a:rPr lang="ko-KR" altLang="en-US" dirty="0" smtClean="0"/>
              <a:t> 통한 모델링 순서를 확인 가능</a:t>
            </a:r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en-US" altLang="ko-KR" dirty="0" err="1" smtClean="0"/>
              <a:t>Diffplug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기능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6" y="2060847"/>
            <a:ext cx="6192688" cy="4402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3019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Tracking in MATLAB</a:t>
            </a:r>
          </a:p>
          <a:p>
            <a:pPr lvl="1"/>
            <a:r>
              <a:rPr lang="en-US" altLang="ko-KR" dirty="0" smtClean="0"/>
              <a:t>Viewer</a:t>
            </a:r>
            <a:r>
              <a:rPr lang="ko-KR" altLang="en-US" dirty="0" smtClean="0"/>
              <a:t>를 통해 보이는 </a:t>
            </a:r>
            <a:r>
              <a:rPr lang="en-US" altLang="ko-KR" dirty="0" smtClean="0"/>
              <a:t>model</a:t>
            </a:r>
            <a:r>
              <a:rPr lang="ko-KR" altLang="en-US" dirty="0" smtClean="0"/>
              <a:t>을 클릭하면 </a:t>
            </a:r>
            <a:r>
              <a:rPr lang="en-US" altLang="ko-KR" dirty="0" smtClean="0"/>
              <a:t>Simulink</a:t>
            </a:r>
            <a:r>
              <a:rPr lang="ko-KR" altLang="en-US" dirty="0" smtClean="0"/>
              <a:t>에 연동되어 </a:t>
            </a:r>
            <a:r>
              <a:rPr lang="en-US" altLang="ko-KR" dirty="0" smtClean="0"/>
              <a:t>Tracking</a:t>
            </a:r>
            <a:r>
              <a:rPr lang="ko-KR" altLang="en-US" dirty="0" smtClean="0"/>
              <a:t>을 수행하는 기능 </a:t>
            </a:r>
            <a:endParaRPr lang="en-US" altLang="ko-KR" dirty="0" smtClean="0"/>
          </a:p>
          <a:p>
            <a:r>
              <a:rPr lang="en-US" altLang="ko-KR" dirty="0" smtClean="0"/>
              <a:t>Signal Tracing</a:t>
            </a:r>
          </a:p>
          <a:p>
            <a:pPr lvl="1"/>
            <a:r>
              <a:rPr lang="en-US" altLang="ko-KR" dirty="0" smtClean="0"/>
              <a:t>Block</a:t>
            </a:r>
            <a:r>
              <a:rPr lang="ko-KR" altLang="en-US" dirty="0" smtClean="0"/>
              <a:t>을 통과하는 </a:t>
            </a:r>
            <a:r>
              <a:rPr lang="en-US" altLang="ko-KR" dirty="0" smtClean="0"/>
              <a:t>Input, output</a:t>
            </a:r>
            <a:r>
              <a:rPr lang="ko-KR" altLang="en-US" dirty="0"/>
              <a:t> </a:t>
            </a:r>
            <a:r>
              <a:rPr lang="ko-KR" altLang="en-US" dirty="0" smtClean="0"/>
              <a:t>신호의 경로를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dirty="0" smtClean="0"/>
              <a:t> 직관적인 </a:t>
            </a:r>
            <a:r>
              <a:rPr lang="ko-KR" altLang="en-US" dirty="0" err="1" smtClean="0"/>
              <a:t>트리의</a:t>
            </a:r>
            <a:r>
              <a:rPr lang="ko-KR" altLang="en-US" dirty="0" smtClean="0"/>
              <a:t> 형태로 나타내는 기능</a:t>
            </a:r>
            <a:endParaRPr lang="en-US" altLang="ko-KR" dirty="0" smtClean="0"/>
          </a:p>
          <a:p>
            <a:pPr lvl="1"/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en-US" altLang="ko-KR" dirty="0" err="1" smtClean="0"/>
              <a:t>Diffplug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기능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07" t="21978" r="3804" b="19733"/>
          <a:stretch/>
        </p:blipFill>
        <p:spPr bwMode="auto">
          <a:xfrm>
            <a:off x="5436096" y="1639956"/>
            <a:ext cx="3259226" cy="482555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76810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Simulink diff</a:t>
            </a:r>
          </a:p>
          <a:p>
            <a:pPr lvl="1"/>
            <a:r>
              <a:rPr lang="ko-KR" altLang="en-US" dirty="0" smtClean="0"/>
              <a:t>다른 개발자와 협업 시</a:t>
            </a:r>
            <a:r>
              <a:rPr lang="en-US" altLang="ko-KR" dirty="0" smtClean="0"/>
              <a:t>, </a:t>
            </a:r>
            <a:r>
              <a:rPr lang="ko-KR" altLang="en-US" dirty="0" smtClean="0"/>
              <a:t>모델에 대한 변경 사항을 확인 가능</a:t>
            </a:r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en-US" altLang="ko-KR" dirty="0" err="1" smtClean="0"/>
              <a:t>Diffplug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기능</a:t>
            </a:r>
            <a:r>
              <a:rPr lang="en-US" altLang="ko-KR" dirty="0" smtClean="0"/>
              <a:t>(III)</a:t>
            </a:r>
            <a:endParaRPr lang="ko-KR" altLang="en-US" dirty="0"/>
          </a:p>
        </p:txBody>
      </p:sp>
      <p:pic>
        <p:nvPicPr>
          <p:cNvPr id="3074" name="Picture 2" descr="dp.simstate.differ works with Simulink models.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801" b="10481"/>
          <a:stretch/>
        </p:blipFill>
        <p:spPr bwMode="auto">
          <a:xfrm>
            <a:off x="179512" y="1700807"/>
            <a:ext cx="8748464" cy="4771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3275856" y="5733256"/>
            <a:ext cx="2304256" cy="36933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altLang="ko-KR" b="1" dirty="0" smtClean="0">
                <a:latin typeface="Arial" panose="020B0604020202020204" pitchFamily="34" charset="0"/>
                <a:cs typeface="Arial" panose="020B0604020202020204" pitchFamily="34" charset="0"/>
              </a:rPr>
              <a:t>Merge</a:t>
            </a:r>
            <a:r>
              <a:rPr lang="ko-KR" altLang="en-US" b="1" dirty="0" smtClean="0">
                <a:latin typeface="Arial" panose="020B0604020202020204" pitchFamily="34" charset="0"/>
                <a:cs typeface="Arial" panose="020B0604020202020204" pitchFamily="34" charset="0"/>
              </a:rPr>
              <a:t>기능은 지원</a:t>
            </a:r>
            <a:r>
              <a:rPr lang="en-US" altLang="ko-KR" b="1" dirty="0" smtClean="0">
                <a:latin typeface="Arial" panose="020B0604020202020204" pitchFamily="34" charset="0"/>
                <a:cs typeface="Arial" panose="020B0604020202020204" pitchFamily="34" charset="0"/>
              </a:rPr>
              <a:t>X</a:t>
            </a:r>
            <a:endParaRPr lang="ko-KR" altLang="en-US" b="1" dirty="0" smtClean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977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Export Report</a:t>
            </a:r>
          </a:p>
          <a:p>
            <a:pPr lvl="1"/>
            <a:r>
              <a:rPr lang="en-US" altLang="ko-KR" dirty="0" smtClean="0"/>
              <a:t>Model</a:t>
            </a:r>
            <a:r>
              <a:rPr lang="ko-KR" altLang="en-US" dirty="0" smtClean="0"/>
              <a:t>의 변경 사항이 자세히 기록된 </a:t>
            </a:r>
            <a:r>
              <a:rPr lang="en-US" altLang="ko-KR" dirty="0" smtClean="0"/>
              <a:t>report</a:t>
            </a:r>
            <a:r>
              <a:rPr lang="ko-KR" altLang="en-US" dirty="0" smtClean="0"/>
              <a:t>를 제공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PDF, DOCX, Image, XML </a:t>
            </a:r>
            <a:r>
              <a:rPr lang="ko-KR" altLang="en-US" dirty="0" smtClean="0"/>
              <a:t>형식 지원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1. </a:t>
            </a:r>
            <a:r>
              <a:rPr lang="en-US" altLang="ko-KR" dirty="0" err="1" smtClean="0"/>
              <a:t>Diffplug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기능</a:t>
            </a:r>
            <a:r>
              <a:rPr lang="en-US" altLang="ko-KR" dirty="0" smtClean="0"/>
              <a:t>(IV)</a:t>
            </a:r>
            <a:endParaRPr lang="ko-KR" alt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678" t="7159" r="6418" b="20242"/>
          <a:stretch/>
        </p:blipFill>
        <p:spPr bwMode="auto">
          <a:xfrm>
            <a:off x="683568" y="2060848"/>
            <a:ext cx="4747060" cy="43204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395268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Simulink differ</a:t>
            </a:r>
          </a:p>
          <a:p>
            <a:pPr lvl="1"/>
            <a:r>
              <a:rPr lang="ko-KR" altLang="en-US" dirty="0" smtClean="0"/>
              <a:t>대부분 기능은 무료이지만</a:t>
            </a:r>
            <a:r>
              <a:rPr lang="en-US" altLang="ko-KR" dirty="0" smtClean="0"/>
              <a:t>, Simulink differ</a:t>
            </a:r>
            <a:r>
              <a:rPr lang="ko-KR" altLang="en-US" dirty="0" smtClean="0"/>
              <a:t>기능을 사용하기 위해선 </a:t>
            </a:r>
            <a:r>
              <a:rPr lang="en-US" altLang="ko-KR" dirty="0" smtClean="0"/>
              <a:t>license</a:t>
            </a:r>
            <a:r>
              <a:rPr lang="ko-KR" altLang="en-US" dirty="0" smtClean="0"/>
              <a:t>필요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license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1</a:t>
            </a:r>
            <a:r>
              <a:rPr lang="ko-KR" altLang="en-US" dirty="0" smtClean="0"/>
              <a:t>인 </a:t>
            </a:r>
            <a:r>
              <a:rPr lang="en-US" altLang="ko-KR" dirty="0" smtClean="0"/>
              <a:t>user, </a:t>
            </a:r>
            <a:r>
              <a:rPr lang="ko-KR" altLang="en-US" dirty="0" smtClean="0"/>
              <a:t>또는 하나의 </a:t>
            </a:r>
            <a:r>
              <a:rPr lang="en-US" altLang="ko-KR" dirty="0" smtClean="0"/>
              <a:t>machine</a:t>
            </a:r>
            <a:r>
              <a:rPr lang="ko-KR" altLang="en-US" dirty="0" smtClean="0"/>
              <a:t>에 부여되어 활성화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부여된 </a:t>
            </a:r>
            <a:r>
              <a:rPr lang="en-US" altLang="ko-KR" dirty="0" smtClean="0"/>
              <a:t>license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user activation</a:t>
            </a:r>
            <a:r>
              <a:rPr lang="ko-KR" altLang="en-US" dirty="0" smtClean="0"/>
              <a:t>이나 </a:t>
            </a:r>
            <a:r>
              <a:rPr lang="en-US" altLang="ko-KR" dirty="0" smtClean="0"/>
              <a:t>machine activation</a:t>
            </a:r>
            <a:r>
              <a:rPr lang="ko-KR" altLang="en-US" dirty="0" smtClean="0"/>
              <a:t>으로 전환가능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1"/>
            <a:endParaRPr lang="en-US" altLang="ko-KR" dirty="0" smtClean="0"/>
          </a:p>
          <a:p>
            <a:r>
              <a:rPr lang="ko-KR" altLang="en-US" dirty="0" smtClean="0"/>
              <a:t>가격</a:t>
            </a:r>
            <a:r>
              <a:rPr lang="en-US" altLang="ko-KR" dirty="0" smtClean="0"/>
              <a:t>(1 license count)</a:t>
            </a:r>
          </a:p>
          <a:p>
            <a:pPr lvl="1"/>
            <a:r>
              <a:rPr lang="en-US" altLang="ko-KR" dirty="0" smtClean="0"/>
              <a:t>99$ / month</a:t>
            </a:r>
          </a:p>
          <a:p>
            <a:pPr lvl="1"/>
            <a:r>
              <a:rPr lang="en-US" altLang="ko-KR" dirty="0" smtClean="0"/>
              <a:t>950$ / year  </a:t>
            </a:r>
          </a:p>
          <a:p>
            <a:pPr lvl="1"/>
            <a:r>
              <a:rPr lang="en-US" altLang="ko-KR" dirty="0" smtClean="0"/>
              <a:t>On-premise license server</a:t>
            </a:r>
            <a:r>
              <a:rPr lang="ko-KR" altLang="en-US" dirty="0" smtClean="0"/>
              <a:t>를 제공하지 않고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개별 </a:t>
            </a:r>
            <a:r>
              <a:rPr lang="en-US" altLang="ko-KR" dirty="0" smtClean="0"/>
              <a:t>license</a:t>
            </a:r>
            <a:r>
              <a:rPr lang="ko-KR" altLang="en-US" dirty="0" smtClean="0"/>
              <a:t>만 제</a:t>
            </a:r>
            <a:r>
              <a:rPr lang="ko-KR" altLang="en-US" dirty="0"/>
              <a:t>공</a:t>
            </a:r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2. </a:t>
            </a:r>
            <a:r>
              <a:rPr lang="en-US" altLang="ko-KR" dirty="0" err="1" smtClean="0"/>
              <a:t>Diffplug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가격 정책</a:t>
            </a:r>
            <a:endParaRPr lang="ko-KR" alt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2492896"/>
            <a:ext cx="6410325" cy="159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629349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Comparison mode</a:t>
            </a:r>
          </a:p>
          <a:p>
            <a:pPr lvl="1"/>
            <a:r>
              <a:rPr lang="ko-KR" altLang="en-US" dirty="0" smtClean="0"/>
              <a:t>두 모델의 차이를 </a:t>
            </a:r>
            <a:r>
              <a:rPr lang="ko-KR" altLang="en-US" dirty="0" err="1" smtClean="0"/>
              <a:t>트리형태로</a:t>
            </a:r>
            <a:r>
              <a:rPr lang="ko-KR" altLang="en-US" dirty="0" smtClean="0"/>
              <a:t> 비교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Simulink</a:t>
            </a:r>
            <a:r>
              <a:rPr lang="ko-KR" altLang="en-US" dirty="0" smtClean="0"/>
              <a:t>에서 시각적으로 모델을 비교 가능</a:t>
            </a:r>
            <a:r>
              <a:rPr lang="en-US" altLang="ko-KR" dirty="0" smtClean="0"/>
              <a:t>(coloring, highlighting)</a:t>
            </a:r>
            <a:endParaRPr lang="en-US" altLang="ko-KR" dirty="0"/>
          </a:p>
          <a:p>
            <a:r>
              <a:rPr lang="en-US" altLang="ko-KR" dirty="0" smtClean="0"/>
              <a:t>Merge mode</a:t>
            </a:r>
          </a:p>
          <a:p>
            <a:pPr lvl="1"/>
            <a:r>
              <a:rPr lang="en-US" altLang="ko-KR" dirty="0" err="1" smtClean="0"/>
              <a:t>Git</a:t>
            </a:r>
            <a:r>
              <a:rPr lang="ko-KR" altLang="en-US" dirty="0" smtClean="0"/>
              <a:t>과 동일하게 </a:t>
            </a:r>
            <a:r>
              <a:rPr lang="en-US" altLang="ko-KR" dirty="0" smtClean="0"/>
              <a:t>merge</a:t>
            </a:r>
            <a:r>
              <a:rPr lang="ko-KR" altLang="en-US" dirty="0" smtClean="0"/>
              <a:t>시 발생하는 </a:t>
            </a:r>
            <a:r>
              <a:rPr lang="en-US" altLang="ko-KR" dirty="0" smtClean="0"/>
              <a:t>conflict</a:t>
            </a:r>
            <a:r>
              <a:rPr lang="ko-KR" altLang="en-US" dirty="0" smtClean="0"/>
              <a:t>를 처리할 수 있음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Merge</a:t>
            </a:r>
            <a:r>
              <a:rPr lang="ko-KR" altLang="en-US" dirty="0" smtClean="0"/>
              <a:t>의 수행 단계별 동작을 표시</a:t>
            </a:r>
            <a:endParaRPr lang="en-US" altLang="ko-KR" dirty="0" smtClean="0"/>
          </a:p>
          <a:p>
            <a:r>
              <a:rPr lang="en-US" altLang="ko-KR" dirty="0" err="1" smtClean="0"/>
              <a:t>Git</a:t>
            </a:r>
            <a:r>
              <a:rPr lang="ko-KR" altLang="en-US" dirty="0" smtClean="0"/>
              <a:t>과의 연동 불가</a:t>
            </a:r>
            <a:endParaRPr lang="en-US" altLang="ko-KR" dirty="0" smtClean="0"/>
          </a:p>
          <a:p>
            <a:pPr lvl="1"/>
            <a:r>
              <a:rPr lang="en-US" altLang="ko-KR" dirty="0" err="1" smtClean="0"/>
              <a:t>SimDiff</a:t>
            </a:r>
            <a:r>
              <a:rPr lang="ko-KR" altLang="en-US" dirty="0" smtClean="0"/>
              <a:t> 자체의 기능으로 버전관리를 할 수 없음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3.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 – </a:t>
            </a:r>
            <a:r>
              <a:rPr lang="ko-KR" altLang="en-US" dirty="0" smtClean="0"/>
              <a:t>기능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52867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en-US" altLang="ko-KR" dirty="0" smtClean="0"/>
              <a:t>Named user : </a:t>
            </a:r>
            <a:r>
              <a:rPr lang="ko-KR" altLang="en-US" dirty="0" smtClean="0"/>
              <a:t>한 사용자에게만 부여되어 다수의 컴퓨터에서 이용</a:t>
            </a:r>
            <a:endParaRPr lang="en-US" altLang="ko-KR" dirty="0" smtClean="0"/>
          </a:p>
          <a:p>
            <a:r>
              <a:rPr lang="en-US" altLang="ko-KR" dirty="0" smtClean="0"/>
              <a:t>Node locked : </a:t>
            </a:r>
            <a:r>
              <a:rPr lang="ko-KR" altLang="en-US" dirty="0" smtClean="0"/>
              <a:t>한 컴퓨터에만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 </a:t>
            </a:r>
            <a:r>
              <a:rPr lang="ko-KR" altLang="en-US" dirty="0" smtClean="0"/>
              <a:t>실행 가능</a:t>
            </a:r>
            <a:endParaRPr lang="en-US" altLang="ko-KR" dirty="0" smtClean="0"/>
          </a:p>
          <a:p>
            <a:r>
              <a:rPr lang="en-US" altLang="ko-KR" dirty="0" smtClean="0"/>
              <a:t>Workgroup float : 10</a:t>
            </a:r>
            <a:r>
              <a:rPr lang="ko-KR" altLang="en-US" dirty="0" smtClean="0"/>
              <a:t>명의 공동 사용자가 사용 가능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가격 정책</a:t>
            </a:r>
            <a:r>
              <a:rPr lang="en-US" altLang="ko-KR" dirty="0" smtClean="0"/>
              <a:t>(I)</a:t>
            </a:r>
            <a:endParaRPr lang="ko-KR" alt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55576" y="2463279"/>
            <a:ext cx="2016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ko-KR" altLang="en-US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만</a:t>
            </a:r>
          </a:p>
        </p:txBody>
      </p:sp>
      <p:pic>
        <p:nvPicPr>
          <p:cNvPr id="614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922" y="2348880"/>
            <a:ext cx="6408712" cy="40793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1259632" y="2420888"/>
            <a:ext cx="2016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</a:t>
            </a:r>
            <a:endParaRPr lang="ko-KR" altLang="en-US" sz="1200" b="1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175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marL="0" indent="0">
              <a:buNone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가격 정책</a:t>
            </a:r>
            <a:r>
              <a:rPr lang="en-US" altLang="ko-KR" dirty="0" smtClean="0"/>
              <a:t>(II)</a:t>
            </a:r>
            <a:endParaRPr lang="ko-KR" alt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55576" y="2463279"/>
            <a:ext cx="2016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ko-KR" altLang="en-US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9552" y="1023119"/>
            <a:ext cx="2016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</a:t>
            </a:r>
            <a:endParaRPr lang="ko-KR" altLang="en-US" sz="1200" b="1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pSp>
        <p:nvGrpSpPr>
          <p:cNvPr id="7" name="그룹 6"/>
          <p:cNvGrpSpPr/>
          <p:nvPr/>
        </p:nvGrpSpPr>
        <p:grpSpPr>
          <a:xfrm>
            <a:off x="179512" y="764704"/>
            <a:ext cx="8496944" cy="5484539"/>
            <a:chOff x="179512" y="764704"/>
            <a:chExt cx="8496944" cy="5484539"/>
          </a:xfrm>
        </p:grpSpPr>
        <p:pic>
          <p:nvPicPr>
            <p:cNvPr id="7170" name="Picture 2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79512" y="764704"/>
              <a:ext cx="8496944" cy="54845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" name="TextBox 5"/>
            <p:cNvSpPr txBox="1"/>
            <p:nvPr/>
          </p:nvSpPr>
          <p:spPr>
            <a:xfrm>
              <a:off x="467544" y="951111"/>
              <a:ext cx="33843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2400" b="1" dirty="0" smtClean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Windows / Linux </a:t>
              </a:r>
              <a:r>
                <a:rPr lang="ko-KR" altLang="en-US" sz="2400" b="1" dirty="0" smtClean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겸용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973825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r>
              <a:rPr lang="ko-KR" altLang="en-US" dirty="0" smtClean="0"/>
              <a:t>영구적 라이선스는 구입한 다음달 초부터</a:t>
            </a:r>
            <a:r>
              <a:rPr lang="en-US" altLang="ko-KR" dirty="0"/>
              <a:t> </a:t>
            </a:r>
            <a:r>
              <a:rPr lang="en-US" altLang="ko-KR" dirty="0" smtClean="0"/>
              <a:t>1</a:t>
            </a:r>
            <a:r>
              <a:rPr lang="ko-KR" altLang="en-US" dirty="0" smtClean="0"/>
              <a:t>년간의 무료 관리가 포함</a:t>
            </a:r>
            <a:endParaRPr lang="en-US" altLang="ko-KR" dirty="0" smtClean="0"/>
          </a:p>
          <a:p>
            <a:r>
              <a:rPr lang="ko-KR" altLang="en-US" dirty="0" smtClean="0"/>
              <a:t>관리 계약이 만료된 후 </a:t>
            </a:r>
            <a:r>
              <a:rPr lang="en-US" altLang="ko-KR" dirty="0" smtClean="0"/>
              <a:t>3</a:t>
            </a:r>
            <a:r>
              <a:rPr lang="ko-KR" altLang="en-US" dirty="0" smtClean="0"/>
              <a:t>개월까지 </a:t>
            </a:r>
            <a:r>
              <a:rPr lang="ko-KR" altLang="en-US" smtClean="0"/>
              <a:t>추가 관리 구매 가능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4. </a:t>
            </a:r>
            <a:r>
              <a:rPr lang="en-US" altLang="ko-KR" dirty="0" err="1" smtClean="0"/>
              <a:t>SimDiff</a:t>
            </a:r>
            <a:r>
              <a:rPr lang="en-US" altLang="ko-KR" dirty="0" smtClean="0"/>
              <a:t>– </a:t>
            </a:r>
            <a:r>
              <a:rPr lang="ko-KR" altLang="en-US" dirty="0" smtClean="0"/>
              <a:t>가격 정책</a:t>
            </a:r>
            <a:r>
              <a:rPr lang="en-US" altLang="ko-KR" dirty="0" smtClean="0"/>
              <a:t>(III)</a:t>
            </a:r>
            <a:endParaRPr lang="ko-KR" alt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755576" y="2463279"/>
            <a:ext cx="2016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ko-KR" altLang="en-US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9632" y="2420888"/>
            <a:ext cx="201622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Windows</a:t>
            </a:r>
            <a:endParaRPr lang="ko-KR" altLang="en-US" sz="1200" b="1" dirty="0" smtClean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2403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259</TotalTime>
  <Words>345</Words>
  <Application>Microsoft Office PowerPoint</Application>
  <PresentationFormat>화면 슬라이드 쇼(4:3)</PresentationFormat>
  <Paragraphs>59</Paragraphs>
  <Slides>10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2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15</cp:revision>
  <dcterms:created xsi:type="dcterms:W3CDTF">2019-12-30T03:48:52Z</dcterms:created>
  <dcterms:modified xsi:type="dcterms:W3CDTF">2019-12-30T08:45:01Z</dcterms:modified>
</cp:coreProperties>
</file>