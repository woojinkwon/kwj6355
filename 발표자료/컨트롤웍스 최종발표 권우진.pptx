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notesMasterIdLst>
    <p:notesMasterId r:id="rId29"/>
  </p:notesMasterIdLst>
  <p:sldIdLst>
    <p:sldId id="256" r:id="rId3"/>
    <p:sldId id="267" r:id="rId4"/>
    <p:sldId id="298" r:id="rId5"/>
    <p:sldId id="299" r:id="rId6"/>
    <p:sldId id="297" r:id="rId7"/>
    <p:sldId id="26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4" r:id="rId22"/>
    <p:sldId id="313" r:id="rId23"/>
    <p:sldId id="315" r:id="rId24"/>
    <p:sldId id="316" r:id="rId25"/>
    <p:sldId id="318" r:id="rId26"/>
    <p:sldId id="317" r:id="rId27"/>
    <p:sldId id="294" r:id="rId2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CC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250" autoAdjust="0"/>
  </p:normalViewPr>
  <p:slideViewPr>
    <p:cSldViewPr>
      <p:cViewPr varScale="1">
        <p:scale>
          <a:sx n="92" d="100"/>
          <a:sy n="92" d="100"/>
        </p:scale>
        <p:origin x="215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AEDF1-42B3-44AF-B8DC-2155D9B87BFA}" type="datetimeFigureOut">
              <a:rPr lang="ko-KR" altLang="en-US" smtClean="0"/>
              <a:t>2020-02-24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687A7-FE84-46ED-9813-12897A200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184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243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767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709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사실 단순히 비교하여 </a:t>
            </a:r>
            <a:r>
              <a:rPr lang="en-US" altLang="ko-KR" dirty="0"/>
              <a:t>parameter</a:t>
            </a:r>
            <a:r>
              <a:rPr lang="ko-KR" altLang="en-US" dirty="0"/>
              <a:t>를 설정하는 것이 공통적인 부분이고</a:t>
            </a:r>
            <a:r>
              <a:rPr lang="en-US" altLang="ko-KR" dirty="0"/>
              <a:t>, </a:t>
            </a:r>
            <a:r>
              <a:rPr lang="ko-KR" altLang="en-US" dirty="0"/>
              <a:t>여기에선 유의점을 위주로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386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865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929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731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Raptor model </a:t>
            </a:r>
            <a:r>
              <a:rPr lang="ko-KR" altLang="en-US" dirty="0"/>
              <a:t>에선 </a:t>
            </a:r>
            <a:r>
              <a:rPr lang="en-US" altLang="ko-KR" dirty="0"/>
              <a:t>storage parameter</a:t>
            </a:r>
            <a:r>
              <a:rPr lang="ko-KR" altLang="en-US" dirty="0"/>
              <a:t>가 </a:t>
            </a:r>
            <a:r>
              <a:rPr lang="en-US" altLang="ko-KR" dirty="0"/>
              <a:t>default</a:t>
            </a:r>
            <a:r>
              <a:rPr lang="ko-KR" altLang="en-US" dirty="0"/>
              <a:t>로 </a:t>
            </a:r>
            <a:r>
              <a:rPr lang="en-US" altLang="ko-KR" dirty="0"/>
              <a:t>calibration</a:t>
            </a:r>
            <a:r>
              <a:rPr lang="ko-KR" altLang="en-US" dirty="0"/>
              <a:t>으로 설정되며</a:t>
            </a:r>
            <a:r>
              <a:rPr lang="en-US" altLang="ko-KR" dirty="0"/>
              <a:t>, </a:t>
            </a:r>
            <a:r>
              <a:rPr lang="ko-KR" altLang="en-US" dirty="0"/>
              <a:t>모든 모델이 </a:t>
            </a:r>
            <a:r>
              <a:rPr lang="en-US" altLang="ko-KR" dirty="0"/>
              <a:t>calibration </a:t>
            </a:r>
            <a:r>
              <a:rPr lang="ko-KR" altLang="en-US" dirty="0"/>
              <a:t>으로 설정됨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70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75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</a:t>
            </a:r>
            <a:r>
              <a:rPr lang="en-US" altLang="ko-KR" dirty="0"/>
              <a:t>CAN Rx </a:t>
            </a:r>
            <a:r>
              <a:rPr lang="ko-KR" altLang="en-US" dirty="0"/>
              <a:t>부분을 변경한 </a:t>
            </a:r>
            <a:r>
              <a:rPr lang="ko-KR" altLang="en-US" dirty="0" err="1"/>
              <a:t>내용에대해</a:t>
            </a:r>
            <a:r>
              <a:rPr lang="ko-KR" altLang="en-US" dirty="0"/>
              <a:t> </a:t>
            </a:r>
            <a:r>
              <a:rPr lang="ko-KR" altLang="en-US" dirty="0" err="1"/>
              <a:t>설명드리겠습니다</a:t>
            </a:r>
            <a:r>
              <a:rPr lang="ko-KR" altLang="en-US" dirty="0"/>
              <a:t> 이 부분만 따로 설명하는 이유는 앞선 단순 교체작업과는 달리</a:t>
            </a:r>
            <a:r>
              <a:rPr lang="en-US" altLang="ko-KR" dirty="0"/>
              <a:t>, CAN Rx</a:t>
            </a:r>
            <a:r>
              <a:rPr lang="ko-KR" altLang="en-US" dirty="0"/>
              <a:t>는 </a:t>
            </a:r>
            <a:r>
              <a:rPr lang="en-US" altLang="ko-KR" dirty="0"/>
              <a:t>block </a:t>
            </a:r>
            <a:r>
              <a:rPr lang="ko-KR" altLang="en-US" dirty="0"/>
              <a:t>의 </a:t>
            </a:r>
            <a:r>
              <a:rPr lang="ko-KR" altLang="en-US" dirty="0" err="1"/>
              <a:t>마스킹을</a:t>
            </a:r>
            <a:r>
              <a:rPr lang="ko-KR" altLang="en-US" dirty="0"/>
              <a:t> 변경해주는 작업이 </a:t>
            </a:r>
            <a:r>
              <a:rPr lang="ko-KR" altLang="en-US" dirty="0" err="1"/>
              <a:t>필요했기때문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100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881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726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4033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185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011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623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7696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7745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77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4001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0257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2711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5685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290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66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목차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66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6300192" y="3933935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5" y="1268761"/>
            <a:ext cx="3510457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/>
              <a:t>넷째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7697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3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/>
        </p:nvSpPr>
        <p:spPr>
          <a:xfrm>
            <a:off x="5748345" y="5063464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401, 13</a:t>
            </a:r>
            <a:r>
              <a:rPr lang="en-US" alt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Eonju-ro 81</a:t>
            </a:r>
            <a:r>
              <a:rPr lang="en-US" alt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6ADBC90-6130-4404-B8FE-3F165ECB9C65}" type="datetimeFigureOut">
              <a:rPr lang="ko-KR" altLang="en-US" smtClean="0"/>
              <a:t>2020-02-24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55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35496" y="9966"/>
            <a:ext cx="9108504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6315433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70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목차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70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7" y="1268760"/>
            <a:ext cx="3510457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251520" y="548680"/>
            <a:ext cx="864096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262344" y="836712"/>
            <a:ext cx="8634791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5748345" y="5063468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401, 13</a:t>
            </a:r>
            <a:r>
              <a:rPr lang="en-US" alt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Eonju-ro 81</a:t>
            </a:r>
            <a:r>
              <a:rPr lang="en-US" alt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1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12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2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7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컨트롤웍스</a:t>
            </a:r>
            <a:endParaRPr lang="en-US" altLang="ko-KR" dirty="0"/>
          </a:p>
          <a:p>
            <a:r>
              <a:rPr lang="ko-KR" altLang="en-US" dirty="0"/>
              <a:t>현장실습생</a:t>
            </a:r>
            <a:endParaRPr lang="en-US" altLang="ko-KR" dirty="0"/>
          </a:p>
          <a:p>
            <a:r>
              <a:rPr lang="ko-KR" altLang="en-US" dirty="0"/>
              <a:t>권 우 진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539552" y="3933056"/>
            <a:ext cx="5688632" cy="569219"/>
          </a:xfrm>
        </p:spPr>
        <p:txBody>
          <a:bodyPr/>
          <a:lstStyle/>
          <a:p>
            <a:r>
              <a:rPr lang="en-US" altLang="ko-KR" b="0" dirty="0"/>
              <a:t>Simulink HCU Raptor Library </a:t>
            </a:r>
            <a:r>
              <a:rPr lang="ko-KR" altLang="en-US" b="0" dirty="0"/>
              <a:t>교체</a:t>
            </a:r>
            <a:endParaRPr lang="en-US" altLang="ko-KR" b="0" dirty="0"/>
          </a:p>
          <a:p>
            <a:endParaRPr lang="en-US" altLang="ko-KR" b="0" dirty="0"/>
          </a:p>
          <a:p>
            <a:r>
              <a:rPr lang="en-US" altLang="ko-KR" sz="1600" b="0" dirty="0"/>
              <a:t>2020.02.24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9899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교체 배경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Measurement</a:t>
            </a:r>
          </a:p>
          <a:p>
            <a:pPr lvl="1">
              <a:buSzPct val="100000"/>
            </a:pPr>
            <a:r>
              <a:rPr lang="en-US" altLang="ko-KR" dirty="0"/>
              <a:t>Adjustment</a:t>
            </a:r>
          </a:p>
          <a:p>
            <a:pPr lvl="1">
              <a:buSzPct val="100000"/>
            </a:pPr>
            <a:r>
              <a:rPr lang="en-US" altLang="ko-KR" dirty="0"/>
              <a:t>Override</a:t>
            </a:r>
          </a:p>
          <a:p>
            <a:pPr lvl="1">
              <a:buSzPct val="100000"/>
            </a:pPr>
            <a:r>
              <a:rPr lang="en-US" altLang="ko-KR" dirty="0"/>
              <a:t>Interpolate(Lookup Table)</a:t>
            </a:r>
          </a:p>
          <a:p>
            <a:pPr lvl="1">
              <a:buSzPct val="100000"/>
            </a:pPr>
            <a:endParaRPr lang="en-US" altLang="ko-KR" dirty="0"/>
          </a:p>
          <a:p>
            <a:pPr>
              <a:buSzPct val="100000"/>
            </a:pPr>
            <a:r>
              <a:rPr lang="en-US" altLang="ko-KR" dirty="0"/>
              <a:t>CAN Rx </a:t>
            </a:r>
            <a:r>
              <a:rPr lang="ko-KR" altLang="en-US" dirty="0"/>
              <a:t>수정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r>
              <a:rPr lang="ko-KR" altLang="en-US" dirty="0"/>
              <a:t>결과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358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교체 배경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교체 배경</a:t>
            </a:r>
          </a:p>
        </p:txBody>
      </p:sp>
    </p:spTree>
    <p:extLst>
      <p:ext uri="{BB962C8B-B14F-4D97-AF65-F5344CB8AC3E}">
        <p14:creationId xmlns:p14="http://schemas.microsoft.com/office/powerpoint/2010/main" val="62673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교체 배경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220072" y="3284984"/>
            <a:ext cx="1440160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EA09E1A-1AD2-4A1B-B802-EB966D92CF5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179512" y="736601"/>
            <a:ext cx="8482356" cy="5387542"/>
          </a:xfrm>
        </p:spPr>
        <p:txBody>
          <a:bodyPr/>
          <a:lstStyle/>
          <a:p>
            <a:pPr>
              <a:buSzPct val="100000"/>
            </a:pPr>
            <a:r>
              <a:rPr lang="en-US" altLang="ko-KR" dirty="0"/>
              <a:t>Raptor</a:t>
            </a:r>
            <a:r>
              <a:rPr lang="ko-KR" altLang="en-US" dirty="0"/>
              <a:t> </a:t>
            </a:r>
            <a:r>
              <a:rPr lang="en-US" altLang="ko-KR" dirty="0"/>
              <a:t>Library </a:t>
            </a:r>
            <a:r>
              <a:rPr lang="ko-KR" altLang="en-US" dirty="0"/>
              <a:t>→ </a:t>
            </a:r>
            <a:r>
              <a:rPr lang="en-US" altLang="ko-KR" dirty="0"/>
              <a:t>Motohawk Library</a:t>
            </a:r>
          </a:p>
          <a:p>
            <a:pPr lvl="1">
              <a:buSzPct val="100000"/>
            </a:pPr>
            <a:r>
              <a:rPr lang="en-US" altLang="ko-KR" dirty="0"/>
              <a:t>Hybrid </a:t>
            </a:r>
            <a:r>
              <a:rPr lang="ko-KR" altLang="en-US" dirty="0"/>
              <a:t>차량의 모터와 엔진의 구동을 제어하는 </a:t>
            </a:r>
            <a:r>
              <a:rPr lang="en-US" altLang="ko-KR" dirty="0"/>
              <a:t>HCU Simulink Model</a:t>
            </a:r>
          </a:p>
          <a:p>
            <a:pPr lvl="1">
              <a:buSzPct val="100000"/>
            </a:pPr>
            <a:r>
              <a:rPr lang="en-US" altLang="ko-KR" dirty="0"/>
              <a:t>Simulink code</a:t>
            </a:r>
            <a:r>
              <a:rPr lang="ko-KR" altLang="en-US" dirty="0"/>
              <a:t>를 </a:t>
            </a:r>
            <a:r>
              <a:rPr lang="en-US" altLang="ko-KR" dirty="0"/>
              <a:t>imbedded code</a:t>
            </a:r>
            <a:r>
              <a:rPr lang="ko-KR" altLang="en-US" dirty="0"/>
              <a:t>로 변환 시키는 기존 </a:t>
            </a:r>
            <a:r>
              <a:rPr lang="en-US" altLang="ko-KR" dirty="0"/>
              <a:t>Raptor Library</a:t>
            </a:r>
            <a:r>
              <a:rPr lang="ko-KR" altLang="en-US" dirty="0"/>
              <a:t>에 호환성 문제점 존재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Raptor Library</a:t>
            </a:r>
            <a:r>
              <a:rPr lang="ko-KR" altLang="en-US" dirty="0"/>
              <a:t>를 </a:t>
            </a:r>
            <a:r>
              <a:rPr lang="en-US" altLang="ko-KR" dirty="0"/>
              <a:t>Motohawk Library</a:t>
            </a:r>
            <a:r>
              <a:rPr lang="ko-KR" altLang="en-US" dirty="0"/>
              <a:t>로 교체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58F710-79C8-4F9B-BFF3-6314598E1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69568"/>
            <a:ext cx="3990738" cy="227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aptor simulink 이미지 검색결과">
            <a:extLst>
              <a:ext uri="{FF2B5EF4-FFF2-40B4-BE49-F238E27FC236}">
                <a16:creationId xmlns:a16="http://schemas.microsoft.com/office/drawing/2014/main" id="{5C8CA1AC-17C5-40F7-B3A9-6E72AF2BA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9" y="3417479"/>
            <a:ext cx="4176464" cy="2171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D9D65E3-5856-40E7-A11B-EC96DCC8FF28}"/>
              </a:ext>
            </a:extLst>
          </p:cNvPr>
          <p:cNvCxnSpPr/>
          <p:nvPr/>
        </p:nvCxnSpPr>
        <p:spPr>
          <a:xfrm>
            <a:off x="4139952" y="4725144"/>
            <a:ext cx="7200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36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</a:t>
            </a:r>
          </a:p>
        </p:txBody>
      </p:sp>
    </p:spTree>
    <p:extLst>
      <p:ext uri="{BB962C8B-B14F-4D97-AF65-F5344CB8AC3E}">
        <p14:creationId xmlns:p14="http://schemas.microsoft.com/office/powerpoint/2010/main" val="151194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 </a:t>
            </a:r>
            <a:r>
              <a:rPr lang="en-US" altLang="ko-KR" dirty="0"/>
              <a:t>– Measurement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220072" y="3284984"/>
            <a:ext cx="1440160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Measurement </a:t>
            </a:r>
            <a:r>
              <a:rPr lang="ko-KR" altLang="en-US" dirty="0"/>
              <a:t>→ </a:t>
            </a:r>
            <a:r>
              <a:rPr lang="en-US" altLang="ko-KR" dirty="0"/>
              <a:t>Probe</a:t>
            </a:r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marL="0" indent="0">
              <a:buSzPct val="100000"/>
              <a:buNone/>
            </a:pP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Model name</a:t>
            </a:r>
            <a:r>
              <a:rPr lang="ko-KR" altLang="en-US" dirty="0"/>
              <a:t>부터 </a:t>
            </a:r>
            <a:r>
              <a:rPr lang="en-US" altLang="ko-KR" dirty="0"/>
              <a:t>gain</a:t>
            </a:r>
            <a:r>
              <a:rPr lang="ko-KR" altLang="en-US" dirty="0"/>
              <a:t>값</a:t>
            </a:r>
            <a:r>
              <a:rPr lang="en-US" altLang="ko-KR" dirty="0"/>
              <a:t>, unit text</a:t>
            </a:r>
            <a:r>
              <a:rPr lang="ko-KR" altLang="en-US" dirty="0"/>
              <a:t>등의 모든 </a:t>
            </a:r>
            <a:r>
              <a:rPr lang="en-US" altLang="ko-KR" dirty="0"/>
              <a:t>parameter</a:t>
            </a:r>
            <a:r>
              <a:rPr lang="ko-KR" altLang="en-US" dirty="0"/>
              <a:t>를 동일하게 설정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/>
              <a:t>해당 </a:t>
            </a:r>
            <a:r>
              <a:rPr lang="en-US" altLang="ko-KR" dirty="0"/>
              <a:t>name</a:t>
            </a:r>
            <a:r>
              <a:rPr lang="ko-KR" altLang="en-US" dirty="0"/>
              <a:t>의 모델이 저장되는 위치를 설정하는 </a:t>
            </a:r>
            <a:r>
              <a:rPr lang="en-US" altLang="ko-KR" dirty="0"/>
              <a:t>parameter</a:t>
            </a:r>
            <a:r>
              <a:rPr lang="ko-KR" altLang="en-US" dirty="0"/>
              <a:t>인 </a:t>
            </a:r>
            <a:r>
              <a:rPr lang="en-US" altLang="ko-KR" dirty="0"/>
              <a:t>Function</a:t>
            </a:r>
            <a:r>
              <a:rPr lang="ko-KR" altLang="en-US" dirty="0"/>
              <a:t>이 </a:t>
            </a:r>
            <a:r>
              <a:rPr lang="en-US" altLang="ko-KR" dirty="0" err="1"/>
              <a:t>motohawk</a:t>
            </a:r>
            <a:r>
              <a:rPr lang="ko-KR" altLang="en-US" dirty="0"/>
              <a:t>에선 </a:t>
            </a:r>
            <a:r>
              <a:rPr lang="en-US" altLang="ko-KR" dirty="0"/>
              <a:t>Instrument Group</a:t>
            </a:r>
            <a:r>
              <a:rPr lang="ko-KR" altLang="en-US" dirty="0"/>
              <a:t>으로 명명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A0AF3A6-E10A-4F9B-A162-98D19C320095}"/>
              </a:ext>
            </a:extLst>
          </p:cNvPr>
          <p:cNvGrpSpPr/>
          <p:nvPr/>
        </p:nvGrpSpPr>
        <p:grpSpPr>
          <a:xfrm>
            <a:off x="1475656" y="2111848"/>
            <a:ext cx="6192688" cy="2901328"/>
            <a:chOff x="1475656" y="3501008"/>
            <a:chExt cx="6192688" cy="290132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F683E42-98DF-412E-9BCB-EA1C8D166F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3483"/>
            <a:stretch/>
          </p:blipFill>
          <p:spPr>
            <a:xfrm>
              <a:off x="1475656" y="3501008"/>
              <a:ext cx="6192688" cy="290132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ED43C43-1BC3-4377-9F8C-C84166D7B9BB}"/>
                </a:ext>
              </a:extLst>
            </p:cNvPr>
            <p:cNvSpPr/>
            <p:nvPr/>
          </p:nvSpPr>
          <p:spPr>
            <a:xfrm>
              <a:off x="1475656" y="4797152"/>
              <a:ext cx="2592288" cy="288032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CE97D9F-EDDC-4BA1-8059-6BB5C519FFA4}"/>
                </a:ext>
              </a:extLst>
            </p:cNvPr>
            <p:cNvSpPr/>
            <p:nvPr/>
          </p:nvSpPr>
          <p:spPr>
            <a:xfrm>
              <a:off x="4139952" y="6093536"/>
              <a:ext cx="3528392" cy="308799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54A9-A8EE-4F76-8991-BF16EB199FB6}"/>
              </a:ext>
            </a:extLst>
          </p:cNvPr>
          <p:cNvSpPr txBox="1"/>
          <p:nvPr/>
        </p:nvSpPr>
        <p:spPr>
          <a:xfrm>
            <a:off x="1763688" y="1268674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Raptor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AFE304-CEE0-430A-8817-B89B9E901683}"/>
              </a:ext>
            </a:extLst>
          </p:cNvPr>
          <p:cNvSpPr txBox="1"/>
          <p:nvPr/>
        </p:nvSpPr>
        <p:spPr>
          <a:xfrm>
            <a:off x="4752020" y="1262684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Motohawk</a:t>
            </a:r>
            <a:endParaRPr lang="ko-KR" altLang="en-US" sz="1200" dirty="0">
              <a:latin typeface="+mn-ea"/>
              <a:ea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6BAC6CB-B62F-42FB-A297-5591AB28D2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867" b="16048"/>
          <a:stretch/>
        </p:blipFill>
        <p:spPr>
          <a:xfrm>
            <a:off x="1907704" y="1587201"/>
            <a:ext cx="2016224" cy="43816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8AC7262-D414-44D3-B101-04ED3C56C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020" y="1585965"/>
            <a:ext cx="1626667" cy="51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9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 </a:t>
            </a:r>
            <a:r>
              <a:rPr lang="en-US" altLang="ko-KR" dirty="0"/>
              <a:t>– Adjustment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220072" y="3284984"/>
            <a:ext cx="1440160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Adjustment – calibration tool</a:t>
            </a:r>
            <a:r>
              <a:rPr lang="ko-KR" altLang="en-US" dirty="0"/>
              <a:t>에서 값을 받음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ko-KR" altLang="en-US" dirty="0"/>
              <a:t>나머지 </a:t>
            </a:r>
            <a:r>
              <a:rPr lang="en-US" altLang="ko-KR" dirty="0"/>
              <a:t>parameter </a:t>
            </a:r>
            <a:r>
              <a:rPr lang="ko-KR" altLang="en-US" dirty="0"/>
              <a:t>모두 동일하게 설정</a:t>
            </a:r>
            <a:endParaRPr lang="en-US" altLang="ko-KR" dirty="0"/>
          </a:p>
        </p:txBody>
      </p:sp>
      <p:graphicFrame>
        <p:nvGraphicFramePr>
          <p:cNvPr id="14" name="표 15">
            <a:extLst>
              <a:ext uri="{FF2B5EF4-FFF2-40B4-BE49-F238E27FC236}">
                <a16:creationId xmlns:a16="http://schemas.microsoft.com/office/drawing/2014/main" id="{992B6321-3786-4479-80AD-BD04AB2C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952825"/>
              </p:ext>
            </p:extLst>
          </p:nvPr>
        </p:nvGraphicFramePr>
        <p:xfrm>
          <a:off x="1524000" y="222598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8652106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7897616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Raptor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Motohawk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1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Display as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View value as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358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Function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Instrument Group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891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Storage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Behavior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37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Initial value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 value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639892"/>
                  </a:ext>
                </a:extLst>
              </a:tr>
            </a:tbl>
          </a:graphicData>
        </a:graphic>
      </p:graphicFrame>
      <p:pic>
        <p:nvPicPr>
          <p:cNvPr id="17" name="그림 16">
            <a:extLst>
              <a:ext uri="{FF2B5EF4-FFF2-40B4-BE49-F238E27FC236}">
                <a16:creationId xmlns:a16="http://schemas.microsoft.com/office/drawing/2014/main" id="{A21E1503-36CA-4842-B4E3-2791A44E6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765" y="1587201"/>
            <a:ext cx="1855755" cy="50920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0022D72-7637-4E14-9D29-DECEC06E8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493" y="1587201"/>
            <a:ext cx="1309303" cy="58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 </a:t>
            </a:r>
            <a:r>
              <a:rPr lang="en-US" altLang="ko-KR" dirty="0"/>
              <a:t>– Override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220072" y="3284984"/>
            <a:ext cx="1440160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override – input</a:t>
            </a:r>
            <a:r>
              <a:rPr lang="ko-KR" altLang="en-US" dirty="0"/>
              <a:t>값을 그대로 출력하거나</a:t>
            </a:r>
            <a:r>
              <a:rPr lang="en-US" altLang="ko-KR" dirty="0"/>
              <a:t> calibration</a:t>
            </a:r>
            <a:r>
              <a:rPr lang="ko-KR" altLang="en-US" dirty="0"/>
              <a:t> </a:t>
            </a:r>
            <a:r>
              <a:rPr lang="en-US" altLang="ko-KR" dirty="0"/>
              <a:t>tool</a:t>
            </a:r>
            <a:r>
              <a:rPr lang="ko-KR" altLang="en-US" dirty="0"/>
              <a:t>에서의 값을 출력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Name</a:t>
            </a:r>
            <a:r>
              <a:rPr lang="ko-KR" altLang="en-US" dirty="0"/>
              <a:t>을 포함한 모든 </a:t>
            </a:r>
            <a:r>
              <a:rPr lang="en-US" altLang="ko-KR" dirty="0"/>
              <a:t>Parameter</a:t>
            </a:r>
            <a:r>
              <a:rPr lang="ko-KR" altLang="en-US" dirty="0"/>
              <a:t>를 동일하게 설정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C9C187-A3B4-4FF9-A08A-DC6D09F98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1955304"/>
            <a:ext cx="2124075" cy="6096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3711D1-5458-4CE0-A505-7408D8B21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072" y="1885578"/>
            <a:ext cx="2028825" cy="895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7FC5AB-5B38-46E5-9960-6E45F5A153DA}"/>
              </a:ext>
            </a:extLst>
          </p:cNvPr>
          <p:cNvSpPr txBox="1"/>
          <p:nvPr/>
        </p:nvSpPr>
        <p:spPr>
          <a:xfrm>
            <a:off x="2015716" y="1578278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Raptor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7380C5-8686-439D-8890-590BAB6AB5D7}"/>
              </a:ext>
            </a:extLst>
          </p:cNvPr>
          <p:cNvSpPr txBox="1"/>
          <p:nvPr/>
        </p:nvSpPr>
        <p:spPr>
          <a:xfrm>
            <a:off x="5004048" y="1572288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Motohawk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020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 </a:t>
            </a:r>
            <a:r>
              <a:rPr lang="en-US" altLang="ko-KR" dirty="0"/>
              <a:t>– Interpolate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220072" y="3284984"/>
            <a:ext cx="1440160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Interpolate – Lookup table</a:t>
            </a:r>
            <a:r>
              <a:rPr lang="ko-KR" altLang="en-US" dirty="0"/>
              <a:t>과 같은 역할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Simulink</a:t>
            </a:r>
            <a:r>
              <a:rPr lang="ko-KR" altLang="en-US" dirty="0"/>
              <a:t>의 기본 </a:t>
            </a:r>
            <a:r>
              <a:rPr lang="en-US" altLang="ko-KR" dirty="0"/>
              <a:t>Lookup table</a:t>
            </a:r>
            <a:r>
              <a:rPr lang="ko-KR" altLang="en-US" dirty="0"/>
              <a:t>과는 달리</a:t>
            </a:r>
            <a:r>
              <a:rPr lang="en-US" altLang="ko-KR" dirty="0"/>
              <a:t>, raptor</a:t>
            </a:r>
            <a:r>
              <a:rPr lang="ko-KR" altLang="en-US" dirty="0"/>
              <a:t>와 </a:t>
            </a:r>
            <a:r>
              <a:rPr lang="en-US" altLang="ko-KR" dirty="0"/>
              <a:t>Motohawk</a:t>
            </a:r>
            <a:r>
              <a:rPr lang="ko-KR" altLang="en-US" dirty="0"/>
              <a:t>는 </a:t>
            </a:r>
            <a:r>
              <a:rPr lang="en-US" altLang="ko-KR" dirty="0"/>
              <a:t>table</a:t>
            </a:r>
            <a:r>
              <a:rPr lang="ko-KR" altLang="en-US" dirty="0"/>
              <a:t> 값이 </a:t>
            </a:r>
            <a:r>
              <a:rPr lang="en-US" altLang="ko-KR" dirty="0"/>
              <a:t>interpolate</a:t>
            </a:r>
            <a:r>
              <a:rPr lang="ko-KR" altLang="en-US" dirty="0"/>
              <a:t>에 저장되고</a:t>
            </a:r>
            <a:r>
              <a:rPr lang="en-US" altLang="ko-KR" dirty="0"/>
              <a:t> x</a:t>
            </a:r>
            <a:r>
              <a:rPr lang="ko-KR" altLang="en-US" dirty="0"/>
              <a:t>축</a:t>
            </a:r>
            <a:r>
              <a:rPr lang="en-US" altLang="ko-KR" dirty="0"/>
              <a:t>, y</a:t>
            </a:r>
            <a:r>
              <a:rPr lang="ko-KR" altLang="en-US" dirty="0"/>
              <a:t>축</a:t>
            </a:r>
            <a:r>
              <a:rPr lang="en-US" altLang="ko-KR" dirty="0"/>
              <a:t> </a:t>
            </a:r>
            <a:r>
              <a:rPr lang="ko-KR" altLang="en-US" dirty="0"/>
              <a:t>값은 </a:t>
            </a:r>
            <a:r>
              <a:rPr lang="en-US" altLang="ko-KR" dirty="0" err="1"/>
              <a:t>Prelookup</a:t>
            </a:r>
            <a:r>
              <a:rPr lang="en-US" altLang="ko-KR" dirty="0"/>
              <a:t> model (Raptor</a:t>
            </a:r>
            <a:r>
              <a:rPr lang="ko-KR" altLang="en-US" dirty="0"/>
              <a:t>는 </a:t>
            </a:r>
            <a:r>
              <a:rPr lang="en-US" altLang="ko-KR" dirty="0"/>
              <a:t>Axis) </a:t>
            </a:r>
            <a:r>
              <a:rPr lang="ko-KR" altLang="en-US" dirty="0"/>
              <a:t>에 따로 지정됨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Raptor</a:t>
            </a:r>
            <a:r>
              <a:rPr lang="ko-KR" altLang="en-US" dirty="0"/>
              <a:t>에서 </a:t>
            </a:r>
            <a:r>
              <a:rPr lang="en-US" altLang="ko-KR" dirty="0"/>
              <a:t>storage parameter</a:t>
            </a:r>
            <a:r>
              <a:rPr lang="ko-KR" altLang="en-US" dirty="0"/>
              <a:t>가 모두 </a:t>
            </a:r>
            <a:r>
              <a:rPr lang="en-US" altLang="ko-KR" dirty="0"/>
              <a:t>calibration</a:t>
            </a:r>
            <a:r>
              <a:rPr lang="ko-KR" altLang="en-US" dirty="0"/>
              <a:t>으로 설정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Motohawk</a:t>
            </a:r>
            <a:r>
              <a:rPr lang="ko-KR" altLang="en-US" dirty="0"/>
              <a:t>는 </a:t>
            </a:r>
            <a:r>
              <a:rPr lang="en-US" altLang="ko-KR" dirty="0"/>
              <a:t>storage parameter</a:t>
            </a:r>
            <a:r>
              <a:rPr lang="ko-KR" altLang="en-US" dirty="0"/>
              <a:t>에 </a:t>
            </a:r>
            <a:r>
              <a:rPr lang="en-US" altLang="ko-KR" dirty="0"/>
              <a:t>calibration</a:t>
            </a:r>
            <a:r>
              <a:rPr lang="ko-KR" altLang="en-US" dirty="0"/>
              <a:t>이 존재하지 않기 때문에 </a:t>
            </a:r>
            <a:r>
              <a:rPr lang="en-US" altLang="ko-KR" dirty="0"/>
              <a:t>Non Volatile</a:t>
            </a:r>
            <a:r>
              <a:rPr lang="ko-KR" altLang="en-US" dirty="0"/>
              <a:t>로 설정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/>
              <a:t>나머지 </a:t>
            </a:r>
            <a:r>
              <a:rPr lang="en-US" altLang="ko-KR" dirty="0"/>
              <a:t>parameter</a:t>
            </a:r>
            <a:r>
              <a:rPr lang="ko-KR" altLang="en-US" dirty="0"/>
              <a:t>는 동일하게 설정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7FC5AB-5B38-46E5-9960-6E45F5A153DA}"/>
              </a:ext>
            </a:extLst>
          </p:cNvPr>
          <p:cNvSpPr txBox="1"/>
          <p:nvPr/>
        </p:nvSpPr>
        <p:spPr>
          <a:xfrm>
            <a:off x="1145108" y="2502184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Raptor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7380C5-8686-439D-8890-590BAB6AB5D7}"/>
              </a:ext>
            </a:extLst>
          </p:cNvPr>
          <p:cNvSpPr txBox="1"/>
          <p:nvPr/>
        </p:nvSpPr>
        <p:spPr>
          <a:xfrm>
            <a:off x="5705873" y="2500159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Motohawk</a:t>
            </a:r>
            <a:endParaRPr lang="ko-KR" altLang="en-US" sz="1200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E09F22-1ABB-4924-B842-9444F8EAB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3" y="2897113"/>
            <a:ext cx="4549527" cy="13239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2A4DB6B-7CB5-435F-AA37-9529377A7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2949500"/>
            <a:ext cx="45720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7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 </a:t>
            </a:r>
            <a:r>
              <a:rPr lang="en-US" altLang="ko-KR" dirty="0"/>
              <a:t>– Interpolate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220072" y="3284984"/>
            <a:ext cx="1440160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Axis reference </a:t>
            </a:r>
            <a:r>
              <a:rPr lang="ko-KR" altLang="en-US" dirty="0"/>
              <a:t>→ </a:t>
            </a:r>
            <a:r>
              <a:rPr lang="en-US" altLang="ko-KR" dirty="0" err="1"/>
              <a:t>Prelookup</a:t>
            </a:r>
            <a:r>
              <a:rPr lang="ko-KR" altLang="en-US" dirty="0"/>
              <a:t> </a:t>
            </a:r>
            <a:r>
              <a:rPr lang="en-US" altLang="ko-KR" dirty="0"/>
              <a:t>reference</a:t>
            </a:r>
          </a:p>
          <a:p>
            <a:pPr lvl="1">
              <a:buSzPct val="100000"/>
            </a:pPr>
            <a:r>
              <a:rPr lang="ko-KR" altLang="en-US" dirty="0"/>
              <a:t>다른 </a:t>
            </a:r>
            <a:r>
              <a:rPr lang="en-US" altLang="ko-KR" dirty="0"/>
              <a:t>axis, </a:t>
            </a:r>
            <a:r>
              <a:rPr lang="en-US" altLang="ko-KR" dirty="0" err="1"/>
              <a:t>prelookup</a:t>
            </a:r>
            <a:r>
              <a:rPr lang="en-US" altLang="ko-KR" dirty="0"/>
              <a:t> model</a:t>
            </a:r>
            <a:r>
              <a:rPr lang="ko-KR" altLang="en-US" dirty="0"/>
              <a:t>을 참조하여 같은 </a:t>
            </a:r>
            <a:r>
              <a:rPr lang="en-US" altLang="ko-KR" dirty="0"/>
              <a:t>model</a:t>
            </a:r>
            <a:r>
              <a:rPr lang="ko-KR" altLang="en-US" dirty="0"/>
              <a:t>을 생성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Name parameter</a:t>
            </a:r>
            <a:r>
              <a:rPr lang="ko-KR" altLang="en-US" dirty="0"/>
              <a:t>만 설정하면</a:t>
            </a:r>
            <a:r>
              <a:rPr lang="en-US" altLang="ko-KR" dirty="0"/>
              <a:t>, </a:t>
            </a:r>
            <a:r>
              <a:rPr lang="ko-KR" altLang="en-US" dirty="0"/>
              <a:t>해당하는 </a:t>
            </a:r>
            <a:r>
              <a:rPr lang="en-US" altLang="ko-KR" dirty="0"/>
              <a:t>model</a:t>
            </a:r>
            <a:r>
              <a:rPr lang="ko-KR" altLang="en-US" dirty="0"/>
              <a:t>을 참조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Motohawk</a:t>
            </a:r>
            <a:r>
              <a:rPr lang="ko-KR" altLang="en-US" dirty="0"/>
              <a:t>는 </a:t>
            </a:r>
            <a:r>
              <a:rPr lang="en-US" altLang="ko-KR" dirty="0"/>
              <a:t>raptor</a:t>
            </a:r>
            <a:r>
              <a:rPr lang="ko-KR" altLang="en-US" dirty="0"/>
              <a:t>와 다르게</a:t>
            </a:r>
            <a:r>
              <a:rPr lang="en-US" altLang="ko-KR" dirty="0"/>
              <a:t>, </a:t>
            </a:r>
            <a:r>
              <a:rPr lang="ko-KR" altLang="en-US" dirty="0"/>
              <a:t>참조하는 원본 </a:t>
            </a:r>
            <a:r>
              <a:rPr lang="en-US" altLang="ko-KR" dirty="0"/>
              <a:t>model</a:t>
            </a:r>
            <a:r>
              <a:rPr lang="ko-KR" altLang="en-US" dirty="0"/>
              <a:t>의 </a:t>
            </a:r>
            <a:r>
              <a:rPr lang="en-US" altLang="ko-KR" dirty="0"/>
              <a:t>name</a:t>
            </a:r>
            <a:r>
              <a:rPr lang="ko-KR" altLang="en-US" dirty="0"/>
              <a:t>에 </a:t>
            </a:r>
            <a:r>
              <a:rPr lang="en-US" altLang="ko-KR" dirty="0"/>
              <a:t>‘</a:t>
            </a:r>
            <a:r>
              <a:rPr lang="en-US" altLang="ko-KR" dirty="0" err="1"/>
              <a:t>IdxArr</a:t>
            </a:r>
            <a:r>
              <a:rPr lang="en-US" altLang="ko-KR" dirty="0"/>
              <a:t>’</a:t>
            </a:r>
            <a:r>
              <a:rPr lang="ko-KR" altLang="en-US" dirty="0"/>
              <a:t>를 붙여서 지정해야 함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7FC5AB-5B38-46E5-9960-6E45F5A153DA}"/>
              </a:ext>
            </a:extLst>
          </p:cNvPr>
          <p:cNvSpPr txBox="1"/>
          <p:nvPr/>
        </p:nvSpPr>
        <p:spPr>
          <a:xfrm>
            <a:off x="1145108" y="2204864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Raptor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7380C5-8686-439D-8890-590BAB6AB5D7}"/>
              </a:ext>
            </a:extLst>
          </p:cNvPr>
          <p:cNvSpPr txBox="1"/>
          <p:nvPr/>
        </p:nvSpPr>
        <p:spPr>
          <a:xfrm>
            <a:off x="5711437" y="2204864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Motohawk</a:t>
            </a:r>
            <a:endParaRPr lang="ko-KR" altLang="en-US" sz="1200" dirty="0">
              <a:latin typeface="+mn-ea"/>
              <a:ea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4748B7-13A9-4393-802F-BEEFA518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36" y="2566385"/>
            <a:ext cx="2667000" cy="8858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4612FE-1E9E-4751-9E50-49DF8F782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793" y="2605658"/>
            <a:ext cx="277177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4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>
          <a:xfrm>
            <a:off x="179512" y="736601"/>
            <a:ext cx="8856983" cy="5387542"/>
          </a:xfrm>
        </p:spPr>
        <p:txBody>
          <a:bodyPr/>
          <a:lstStyle/>
          <a:p>
            <a:pPr marL="0" indent="0" algn="ctr">
              <a:buSzPct val="100000"/>
              <a:buNone/>
            </a:pPr>
            <a:endParaRPr lang="en-US" altLang="ko-KR" dirty="0"/>
          </a:p>
          <a:p>
            <a:pPr marL="0" indent="0" algn="ctr">
              <a:buSzPct val="100000"/>
              <a:buNone/>
            </a:pPr>
            <a:endParaRPr lang="en-US" altLang="ko-KR" sz="2800" b="1" spc="-150" dirty="0">
              <a:solidFill>
                <a:srgbClr val="0A60A3"/>
              </a:solidFill>
            </a:endParaRPr>
          </a:p>
          <a:p>
            <a:pPr marL="0" indent="0" algn="ctr">
              <a:buSzPct val="100000"/>
              <a:buNone/>
            </a:pPr>
            <a:endParaRPr lang="en-US" altLang="ko-KR" sz="2800" b="1" spc="-150" dirty="0">
              <a:solidFill>
                <a:srgbClr val="0A60A3"/>
              </a:solidFill>
            </a:endParaRPr>
          </a:p>
          <a:p>
            <a:pPr marL="0" indent="0" algn="ctr">
              <a:buSzPct val="100000"/>
              <a:buNone/>
            </a:pPr>
            <a:r>
              <a:rPr lang="en-US" altLang="ko-KR" sz="4500" b="1" spc="-150" dirty="0">
                <a:solidFill>
                  <a:srgbClr val="0A60A3"/>
                </a:solidFill>
              </a:rPr>
              <a:t>CAN Rx</a:t>
            </a:r>
            <a:r>
              <a:rPr lang="ko-KR" altLang="en-US" sz="4500" b="1" spc="-150" dirty="0">
                <a:solidFill>
                  <a:srgbClr val="0A60A3"/>
                </a:solidFill>
              </a:rPr>
              <a:t> 수정</a:t>
            </a:r>
            <a:endParaRPr lang="ko-KR" altLang="en-US" sz="6000" b="1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</a:t>
            </a:r>
            <a:r>
              <a:rPr lang="ko-KR" altLang="en-US" dirty="0"/>
              <a:t> </a:t>
            </a:r>
            <a:r>
              <a:rPr lang="en-US" altLang="ko-KR" dirty="0"/>
              <a:t>Rx </a:t>
            </a:r>
            <a:r>
              <a:rPr lang="ko-KR" altLang="en-US" dirty="0"/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415549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 Rx </a:t>
            </a:r>
            <a:r>
              <a:rPr lang="ko-KR" altLang="en-US" dirty="0"/>
              <a:t>수정 </a:t>
            </a:r>
            <a:r>
              <a:rPr lang="en-US" altLang="ko-KR" dirty="0"/>
              <a:t>– HCU</a:t>
            </a:r>
            <a:r>
              <a:rPr lang="ko-KR" altLang="en-US" dirty="0"/>
              <a:t> 구조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HCU</a:t>
            </a:r>
            <a:r>
              <a:rPr lang="ko-KR" altLang="en-US" dirty="0"/>
              <a:t> 구조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HCU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Foreground – Sensors – CAN</a:t>
            </a:r>
            <a:r>
              <a:rPr lang="ko-KR" altLang="en-US" dirty="0"/>
              <a:t> 내부에 </a:t>
            </a:r>
            <a:r>
              <a:rPr lang="en-US" altLang="ko-KR" dirty="0"/>
              <a:t>CAN</a:t>
            </a:r>
            <a:r>
              <a:rPr lang="ko-KR" altLang="en-US" dirty="0"/>
              <a:t>을 통해 </a:t>
            </a:r>
            <a:r>
              <a:rPr lang="en-US" altLang="ko-KR" dirty="0"/>
              <a:t>message</a:t>
            </a:r>
            <a:r>
              <a:rPr lang="ko-KR" altLang="en-US" dirty="0"/>
              <a:t>를</a:t>
            </a:r>
            <a:br>
              <a:rPr lang="en-US" altLang="ko-KR" dirty="0"/>
            </a:br>
            <a:r>
              <a:rPr lang="ko-KR" altLang="en-US" dirty="0"/>
              <a:t> 받는 </a:t>
            </a:r>
            <a:r>
              <a:rPr lang="en-US" altLang="ko-KR" dirty="0"/>
              <a:t>Block</a:t>
            </a:r>
            <a:r>
              <a:rPr lang="ko-KR" altLang="en-US" dirty="0"/>
              <a:t>이 존재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56C599C-1112-4B24-8FEB-C77295D8FD74}"/>
              </a:ext>
            </a:extLst>
          </p:cNvPr>
          <p:cNvGrpSpPr/>
          <p:nvPr/>
        </p:nvGrpSpPr>
        <p:grpSpPr>
          <a:xfrm>
            <a:off x="899592" y="2662095"/>
            <a:ext cx="4715762" cy="2711121"/>
            <a:chOff x="899592" y="2060848"/>
            <a:chExt cx="2667929" cy="1533809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5B2EEA6-E9C1-42F5-95C9-C84D95987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9592" y="2060848"/>
              <a:ext cx="2667929" cy="1533809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5B65B39-0DB7-4716-892F-301DDB59BD69}"/>
                </a:ext>
              </a:extLst>
            </p:cNvPr>
            <p:cNvSpPr/>
            <p:nvPr/>
          </p:nvSpPr>
          <p:spPr>
            <a:xfrm>
              <a:off x="899592" y="2060848"/>
              <a:ext cx="1440160" cy="504056"/>
            </a:xfrm>
            <a:prstGeom prst="rect">
              <a:avLst/>
            </a:prstGeom>
            <a:grpFill/>
            <a:ln w="12700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ED61737E-5E1C-4DA9-A86C-5AF8AF1E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304" y="1268760"/>
            <a:ext cx="158115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82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 Rx </a:t>
            </a:r>
            <a:r>
              <a:rPr lang="ko-KR" altLang="en-US" dirty="0"/>
              <a:t>수정 </a:t>
            </a:r>
            <a:r>
              <a:rPr lang="en-US" altLang="ko-KR" dirty="0"/>
              <a:t>– HCU</a:t>
            </a:r>
            <a:r>
              <a:rPr lang="ko-KR" altLang="en-US" dirty="0"/>
              <a:t> 구조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HCU</a:t>
            </a:r>
            <a:r>
              <a:rPr lang="ko-KR" altLang="en-US" dirty="0"/>
              <a:t> 구조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BEAF855-E768-49E2-BFBF-670EFBD51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8760"/>
            <a:ext cx="9144000" cy="3907988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541A2AB4-ED69-4994-91C8-6201791A52F5}"/>
              </a:ext>
            </a:extLst>
          </p:cNvPr>
          <p:cNvGrpSpPr/>
          <p:nvPr/>
        </p:nvGrpSpPr>
        <p:grpSpPr>
          <a:xfrm>
            <a:off x="467544" y="5013176"/>
            <a:ext cx="1152128" cy="1110967"/>
            <a:chOff x="467544" y="5013176"/>
            <a:chExt cx="1152128" cy="1110967"/>
          </a:xfrm>
        </p:grpSpPr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0F76A3C5-896A-46AE-AB06-FCBF44A35E07}"/>
                </a:ext>
              </a:extLst>
            </p:cNvPr>
            <p:cNvCxnSpPr/>
            <p:nvPr/>
          </p:nvCxnSpPr>
          <p:spPr>
            <a:xfrm flipV="1">
              <a:off x="1043608" y="5013176"/>
              <a:ext cx="0" cy="5760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A451FC1-6828-4DC8-B7BE-4A8EB3C9F562}"/>
                </a:ext>
              </a:extLst>
            </p:cNvPr>
            <p:cNvSpPr/>
            <p:nvPr/>
          </p:nvSpPr>
          <p:spPr>
            <a:xfrm>
              <a:off x="467544" y="5589240"/>
              <a:ext cx="1152128" cy="534903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CAN Rx message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8D15704-F1A7-48A3-AD60-96BA189C60A6}"/>
              </a:ext>
            </a:extLst>
          </p:cNvPr>
          <p:cNvSpPr/>
          <p:nvPr/>
        </p:nvSpPr>
        <p:spPr>
          <a:xfrm>
            <a:off x="6012160" y="1340768"/>
            <a:ext cx="1368152" cy="340484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6A1B6C2-08D1-4A91-BB3F-801D1D4AA94A}"/>
              </a:ext>
            </a:extLst>
          </p:cNvPr>
          <p:cNvSpPr/>
          <p:nvPr/>
        </p:nvSpPr>
        <p:spPr>
          <a:xfrm>
            <a:off x="7380312" y="646079"/>
            <a:ext cx="1337662" cy="535981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9FC9D66-EEF0-4CC2-AF0C-5D3B9B7FE028}"/>
              </a:ext>
            </a:extLst>
          </p:cNvPr>
          <p:cNvGrpSpPr/>
          <p:nvPr/>
        </p:nvGrpSpPr>
        <p:grpSpPr>
          <a:xfrm>
            <a:off x="6696236" y="980728"/>
            <a:ext cx="684076" cy="360040"/>
            <a:chOff x="6696236" y="980728"/>
            <a:chExt cx="684076" cy="360040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73A1EC32-1D8D-4C48-AD7B-6F1E5F151B5B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6696236" y="980728"/>
              <a:ext cx="0" cy="36004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79C82EB8-3E12-45CB-A45F-0AA2B9C5183C}"/>
                </a:ext>
              </a:extLst>
            </p:cNvPr>
            <p:cNvCxnSpPr/>
            <p:nvPr/>
          </p:nvCxnSpPr>
          <p:spPr>
            <a:xfrm>
              <a:off x="6696236" y="980728"/>
              <a:ext cx="68407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817B5F3-A749-4ED6-B2D2-6000D9EB410F}"/>
              </a:ext>
            </a:extLst>
          </p:cNvPr>
          <p:cNvSpPr txBox="1"/>
          <p:nvPr/>
        </p:nvSpPr>
        <p:spPr>
          <a:xfrm>
            <a:off x="7395557" y="652459"/>
            <a:ext cx="1337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Rx message status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0575109-CC7B-4E9E-9846-D1F9E66BC039}"/>
              </a:ext>
            </a:extLst>
          </p:cNvPr>
          <p:cNvSpPr/>
          <p:nvPr/>
        </p:nvSpPr>
        <p:spPr>
          <a:xfrm>
            <a:off x="6012160" y="1844824"/>
            <a:ext cx="1512129" cy="3331924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E9530E2-8F4B-4AB7-9609-96427942F68D}"/>
              </a:ext>
            </a:extLst>
          </p:cNvPr>
          <p:cNvGrpSpPr/>
          <p:nvPr/>
        </p:nvGrpSpPr>
        <p:grpSpPr>
          <a:xfrm>
            <a:off x="6156176" y="5176748"/>
            <a:ext cx="1368107" cy="1110967"/>
            <a:chOff x="6156176" y="5176748"/>
            <a:chExt cx="1368107" cy="1110967"/>
          </a:xfrm>
        </p:grpSpPr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3146D867-67CA-4732-9227-DE95F65580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2359" y="5176748"/>
              <a:ext cx="0" cy="70052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87D6D31A-30C8-4C40-B6E4-05F0C06709E2}"/>
                </a:ext>
              </a:extLst>
            </p:cNvPr>
            <p:cNvSpPr/>
            <p:nvPr/>
          </p:nvSpPr>
          <p:spPr>
            <a:xfrm>
              <a:off x="6156176" y="5877272"/>
              <a:ext cx="1368107" cy="410443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Rx Field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3DE3E6B-975D-4FE9-A1EB-EA5D498EC225}"/>
              </a:ext>
            </a:extLst>
          </p:cNvPr>
          <p:cNvGrpSpPr/>
          <p:nvPr/>
        </p:nvGrpSpPr>
        <p:grpSpPr>
          <a:xfrm>
            <a:off x="7596336" y="5149840"/>
            <a:ext cx="1008110" cy="720837"/>
            <a:chOff x="6350002" y="5197061"/>
            <a:chExt cx="1008110" cy="720837"/>
          </a:xfrm>
        </p:grpSpPr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76F68176-7AF8-46DF-BE57-13BC4191D5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1414" y="5197061"/>
              <a:ext cx="0" cy="46392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73BA00F3-022E-4CE3-8C43-82899975B8F9}"/>
                </a:ext>
              </a:extLst>
            </p:cNvPr>
            <p:cNvSpPr/>
            <p:nvPr/>
          </p:nvSpPr>
          <p:spPr>
            <a:xfrm>
              <a:off x="6350002" y="5650445"/>
              <a:ext cx="1008110" cy="267453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Bus creator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389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7C341056-0F56-4589-ADD9-50F761FA4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4951635"/>
            <a:ext cx="4552950" cy="1419225"/>
          </a:xfrm>
          <a:prstGeom prst="rect">
            <a:avLst/>
          </a:prstGeom>
        </p:spPr>
      </p:pic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 Rx </a:t>
            </a:r>
            <a:r>
              <a:rPr lang="ko-KR" altLang="en-US" dirty="0"/>
              <a:t>수정 </a:t>
            </a:r>
            <a:r>
              <a:rPr lang="en-US" altLang="ko-KR" dirty="0"/>
              <a:t>– Raptor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기존 </a:t>
            </a:r>
            <a:r>
              <a:rPr lang="en-US" altLang="ko-KR" dirty="0"/>
              <a:t>Raptor Library Model</a:t>
            </a:r>
            <a:r>
              <a:rPr lang="ko-KR" altLang="en-US" dirty="0"/>
              <a:t>의 </a:t>
            </a:r>
            <a:r>
              <a:rPr lang="en-US" altLang="ko-KR" dirty="0"/>
              <a:t>Masking</a:t>
            </a:r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CAN Rx Message</a:t>
            </a:r>
            <a:r>
              <a:rPr lang="ko-KR" altLang="en-US" dirty="0"/>
              <a:t>에서 </a:t>
            </a:r>
            <a:r>
              <a:rPr lang="en-US" altLang="ko-KR" dirty="0"/>
              <a:t>message </a:t>
            </a:r>
            <a:r>
              <a:rPr lang="ko-KR" altLang="en-US" dirty="0"/>
              <a:t>값을 찾아</a:t>
            </a:r>
            <a:r>
              <a:rPr lang="en-US" altLang="ko-KR" dirty="0"/>
              <a:t>, </a:t>
            </a:r>
            <a:r>
              <a:rPr lang="en-US" altLang="ko-KR" dirty="0" err="1"/>
              <a:t>msgnam</a:t>
            </a:r>
            <a:r>
              <a:rPr lang="ko-KR" altLang="en-US" dirty="0"/>
              <a:t>에 저장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err="1"/>
              <a:t>RxMsgStatus</a:t>
            </a:r>
            <a:r>
              <a:rPr lang="en-US" altLang="ko-KR" dirty="0"/>
              <a:t> block</a:t>
            </a:r>
            <a:r>
              <a:rPr lang="ko-KR" altLang="en-US" dirty="0"/>
              <a:t> </a:t>
            </a:r>
            <a:r>
              <a:rPr lang="en-US" altLang="ko-KR" dirty="0"/>
              <a:t>icon</a:t>
            </a:r>
            <a:r>
              <a:rPr lang="ko-KR" altLang="en-US" dirty="0"/>
              <a:t>에 </a:t>
            </a:r>
            <a:r>
              <a:rPr lang="en-US" altLang="ko-KR" dirty="0" err="1"/>
              <a:t>msgnam</a:t>
            </a:r>
            <a:r>
              <a:rPr lang="ko-KR" altLang="en-US" dirty="0"/>
              <a:t>이 표시됨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C5CF5BD9-FD9D-49BD-96CA-B3A4B6C7DAEE}"/>
              </a:ext>
            </a:extLst>
          </p:cNvPr>
          <p:cNvSpPr/>
          <p:nvPr/>
        </p:nvSpPr>
        <p:spPr>
          <a:xfrm>
            <a:off x="611560" y="2708920"/>
            <a:ext cx="288032" cy="43204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CBAC59-C473-449D-A146-1B7B58A6404C}"/>
              </a:ext>
            </a:extLst>
          </p:cNvPr>
          <p:cNvGrpSpPr/>
          <p:nvPr/>
        </p:nvGrpSpPr>
        <p:grpSpPr>
          <a:xfrm>
            <a:off x="150934" y="1196752"/>
            <a:ext cx="8669537" cy="3283633"/>
            <a:chOff x="150934" y="1196752"/>
            <a:chExt cx="8669537" cy="328363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63071C7-537C-40BE-997D-13ABADFF7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934" y="1196752"/>
              <a:ext cx="8669537" cy="328363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5AE0BC-2B6B-4411-80F7-38674B5CECAA}"/>
                </a:ext>
              </a:extLst>
            </p:cNvPr>
            <p:cNvSpPr txBox="1"/>
            <p:nvPr/>
          </p:nvSpPr>
          <p:spPr>
            <a:xfrm>
              <a:off x="2915816" y="1268760"/>
              <a:ext cx="3888432" cy="33855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+mn-ea"/>
                </a:rPr>
                <a:t>RxMsgStatus</a:t>
              </a:r>
              <a:r>
                <a:rPr lang="en-US" altLang="ko-KR" sz="1600" dirty="0">
                  <a:latin typeface="+mn-ea"/>
                </a:rPr>
                <a:t> block</a:t>
              </a:r>
              <a:r>
                <a:rPr lang="ko-KR" altLang="en-US" sz="1600" dirty="0">
                  <a:latin typeface="+mn-ea"/>
                </a:rPr>
                <a:t>의 </a:t>
              </a:r>
              <a:r>
                <a:rPr lang="en-US" altLang="ko-KR" sz="1600" dirty="0">
                  <a:latin typeface="+mn-ea"/>
                </a:rPr>
                <a:t>mask Initialization</a:t>
              </a:r>
              <a:endParaRPr lang="ko-KR" altLang="en-US" sz="1600" dirty="0">
                <a:latin typeface="+mn-ea"/>
                <a:ea typeface="+mn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C7AB071-B000-4BA8-B570-E9E0FA01FA58}"/>
              </a:ext>
            </a:extLst>
          </p:cNvPr>
          <p:cNvGrpSpPr/>
          <p:nvPr/>
        </p:nvGrpSpPr>
        <p:grpSpPr>
          <a:xfrm>
            <a:off x="5352948" y="2845344"/>
            <a:ext cx="3791052" cy="1635041"/>
            <a:chOff x="5352948" y="2845344"/>
            <a:chExt cx="3791052" cy="163504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2C93382-C2E4-43DC-AC3A-325F4A907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52948" y="2845344"/>
              <a:ext cx="3791052" cy="163504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3EB0954-9B81-4720-9D29-A09847E953B8}"/>
                </a:ext>
              </a:extLst>
            </p:cNvPr>
            <p:cNvSpPr/>
            <p:nvPr/>
          </p:nvSpPr>
          <p:spPr>
            <a:xfrm>
              <a:off x="5583948" y="4220359"/>
              <a:ext cx="1544216" cy="226949"/>
            </a:xfrm>
            <a:prstGeom prst="rect">
              <a:avLst/>
            </a:prstGeom>
            <a:grpFill/>
            <a:ln w="38100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853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 Rx </a:t>
            </a:r>
            <a:r>
              <a:rPr lang="ko-KR" altLang="en-US" dirty="0"/>
              <a:t>수정 </a:t>
            </a:r>
            <a:r>
              <a:rPr lang="en-US" altLang="ko-KR" dirty="0"/>
              <a:t>– Raptor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기존 </a:t>
            </a:r>
            <a:r>
              <a:rPr lang="en-US" altLang="ko-KR" dirty="0"/>
              <a:t>Raptor Library Model</a:t>
            </a:r>
            <a:r>
              <a:rPr lang="ko-KR" altLang="en-US" dirty="0"/>
              <a:t>의 </a:t>
            </a:r>
            <a:r>
              <a:rPr lang="en-US" altLang="ko-KR" dirty="0"/>
              <a:t>Masking</a:t>
            </a:r>
          </a:p>
          <a:p>
            <a:pPr lvl="1">
              <a:buSzPct val="100000"/>
            </a:pPr>
            <a:r>
              <a:rPr lang="ko-KR" altLang="en-US" dirty="0"/>
              <a:t>이전 </a:t>
            </a:r>
            <a:r>
              <a:rPr lang="en-US" altLang="ko-KR" dirty="0"/>
              <a:t>Rx message</a:t>
            </a:r>
            <a:r>
              <a:rPr lang="ko-KR" altLang="en-US" dirty="0"/>
              <a:t>를 포함하는 상위 </a:t>
            </a:r>
            <a:r>
              <a:rPr lang="en-US" altLang="ko-KR" dirty="0"/>
              <a:t>block</a:t>
            </a:r>
            <a:r>
              <a:rPr lang="ko-KR" altLang="en-US" dirty="0"/>
              <a:t>의 </a:t>
            </a:r>
            <a:r>
              <a:rPr lang="en-US" altLang="ko-KR" dirty="0"/>
              <a:t>initialization</a:t>
            </a:r>
            <a:r>
              <a:rPr lang="ko-KR" altLang="en-US" dirty="0"/>
              <a:t>에서 </a:t>
            </a:r>
            <a:r>
              <a:rPr lang="en-US" altLang="ko-KR" dirty="0" err="1"/>
              <a:t>CANBlockInit</a:t>
            </a:r>
            <a:r>
              <a:rPr lang="en-US" altLang="ko-KR" dirty="0"/>
              <a:t> </a:t>
            </a:r>
            <a:r>
              <a:rPr lang="ko-KR" altLang="en-US" dirty="0"/>
              <a:t>함수가 실행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C5FD459-05B4-4B39-874B-B85F78E6546C}"/>
              </a:ext>
            </a:extLst>
          </p:cNvPr>
          <p:cNvGrpSpPr/>
          <p:nvPr/>
        </p:nvGrpSpPr>
        <p:grpSpPr>
          <a:xfrm>
            <a:off x="1403648" y="2132856"/>
            <a:ext cx="6336704" cy="2940916"/>
            <a:chOff x="1403648" y="2132856"/>
            <a:chExt cx="6336704" cy="294091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838DE21-B6CF-497E-BECB-44EDF8702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3648" y="2132856"/>
              <a:ext cx="5688632" cy="294091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2ED3BB2-0AE1-4529-899C-582D3F3ED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3802" y="4221088"/>
              <a:ext cx="2876550" cy="30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20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 Rx </a:t>
            </a:r>
            <a:r>
              <a:rPr lang="ko-KR" altLang="en-US" dirty="0"/>
              <a:t>수정 </a:t>
            </a:r>
            <a:r>
              <a:rPr lang="en-US" altLang="ko-KR" dirty="0"/>
              <a:t>– Raptor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기존 </a:t>
            </a:r>
            <a:r>
              <a:rPr lang="en-US" altLang="ko-KR" dirty="0"/>
              <a:t>Raptor Library Model</a:t>
            </a:r>
            <a:r>
              <a:rPr lang="ko-KR" altLang="en-US" dirty="0"/>
              <a:t>의 </a:t>
            </a:r>
            <a:r>
              <a:rPr lang="en-US" altLang="ko-KR" dirty="0"/>
              <a:t>Masking</a:t>
            </a:r>
          </a:p>
          <a:p>
            <a:pPr lvl="1">
              <a:buSzPct val="100000"/>
            </a:pPr>
            <a:r>
              <a:rPr lang="en-US" altLang="ko-KR" dirty="0" err="1"/>
              <a:t>CANBlockinit</a:t>
            </a:r>
            <a:r>
              <a:rPr lang="ko-KR" altLang="en-US" dirty="0"/>
              <a:t> 함수가 실행되면 내부 </a:t>
            </a:r>
            <a:r>
              <a:rPr lang="en-US" altLang="ko-KR" dirty="0" err="1"/>
              <a:t>RxMsgStatus</a:t>
            </a:r>
            <a:r>
              <a:rPr lang="en-US" altLang="ko-KR" dirty="0"/>
              <a:t> block</a:t>
            </a:r>
            <a:r>
              <a:rPr lang="ko-KR" altLang="en-US" dirty="0"/>
              <a:t>의 </a:t>
            </a:r>
            <a:r>
              <a:rPr lang="en-US" altLang="ko-KR" dirty="0"/>
              <a:t>parameter</a:t>
            </a:r>
            <a:r>
              <a:rPr lang="ko-KR" altLang="en-US" dirty="0"/>
              <a:t>인 </a:t>
            </a:r>
            <a:r>
              <a:rPr lang="en-US" altLang="ko-KR" dirty="0" err="1"/>
              <a:t>msgnam</a:t>
            </a:r>
            <a:r>
              <a:rPr lang="ko-KR" altLang="en-US" dirty="0"/>
              <a:t>과 </a:t>
            </a:r>
            <a:r>
              <a:rPr lang="en-US" altLang="ko-KR" dirty="0"/>
              <a:t>Rx message</a:t>
            </a:r>
            <a:r>
              <a:rPr lang="ko-KR" altLang="en-US" dirty="0"/>
              <a:t>에서 </a:t>
            </a:r>
            <a:r>
              <a:rPr lang="en-US" altLang="ko-KR" dirty="0" err="1"/>
              <a:t>CANbus</a:t>
            </a:r>
            <a:r>
              <a:rPr lang="en-US" altLang="ko-KR" dirty="0"/>
              <a:t> </a:t>
            </a:r>
            <a:r>
              <a:rPr lang="ko-KR" altLang="en-US" dirty="0"/>
              <a:t>이름을 현재 </a:t>
            </a:r>
            <a:r>
              <a:rPr lang="en-US" altLang="ko-KR" dirty="0"/>
              <a:t>block</a:t>
            </a:r>
            <a:r>
              <a:rPr lang="ko-KR" altLang="en-US" dirty="0"/>
              <a:t>의 </a:t>
            </a:r>
            <a:r>
              <a:rPr lang="en-US" altLang="ko-KR" dirty="0"/>
              <a:t>parameter</a:t>
            </a:r>
            <a:r>
              <a:rPr lang="ko-KR" altLang="en-US" dirty="0"/>
              <a:t>인 </a:t>
            </a:r>
            <a:r>
              <a:rPr lang="en-US" altLang="ko-KR" dirty="0" err="1"/>
              <a:t>msgnam</a:t>
            </a:r>
            <a:r>
              <a:rPr lang="ko-KR" altLang="en-US" dirty="0"/>
              <a:t>과 </a:t>
            </a:r>
            <a:r>
              <a:rPr lang="en-US" altLang="ko-KR" dirty="0" err="1"/>
              <a:t>msgbus</a:t>
            </a:r>
            <a:r>
              <a:rPr lang="ko-KR" altLang="en-US" dirty="0"/>
              <a:t>에 저장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1144888-93CC-47F0-A91E-9BDEF05DE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" y="2420888"/>
            <a:ext cx="9144000" cy="378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008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 Rx </a:t>
            </a:r>
            <a:r>
              <a:rPr lang="ko-KR" altLang="en-US" dirty="0"/>
              <a:t>수정 </a:t>
            </a:r>
            <a:r>
              <a:rPr lang="en-US" altLang="ko-KR" dirty="0"/>
              <a:t>– Raptor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기존 </a:t>
            </a:r>
            <a:r>
              <a:rPr lang="en-US" altLang="ko-KR" dirty="0"/>
              <a:t>Raptor Library Model</a:t>
            </a:r>
            <a:r>
              <a:rPr lang="ko-KR" altLang="en-US" dirty="0"/>
              <a:t>의 </a:t>
            </a:r>
            <a:r>
              <a:rPr lang="en-US" altLang="ko-KR" dirty="0"/>
              <a:t>Masking</a:t>
            </a:r>
          </a:p>
          <a:p>
            <a:pPr lvl="1">
              <a:buSzPct val="100000"/>
            </a:pPr>
            <a:r>
              <a:rPr lang="en-US" altLang="ko-KR" dirty="0"/>
              <a:t>Icon</a:t>
            </a:r>
            <a:r>
              <a:rPr lang="ko-KR" altLang="en-US" dirty="0"/>
              <a:t> </a:t>
            </a:r>
            <a:r>
              <a:rPr lang="en-US" altLang="ko-KR" dirty="0"/>
              <a:t>drawing commands</a:t>
            </a:r>
            <a:r>
              <a:rPr lang="ko-KR" altLang="en-US" dirty="0"/>
              <a:t>를 통해 현재 </a:t>
            </a:r>
            <a:r>
              <a:rPr lang="en-US" altLang="ko-KR" dirty="0"/>
              <a:t>block</a:t>
            </a:r>
            <a:r>
              <a:rPr lang="ko-KR" altLang="en-US" dirty="0"/>
              <a:t>에 </a:t>
            </a:r>
            <a:r>
              <a:rPr lang="en-US" altLang="ko-KR" dirty="0"/>
              <a:t>message name</a:t>
            </a:r>
            <a:r>
              <a:rPr lang="ko-KR" altLang="en-US" dirty="0"/>
              <a:t>과 </a:t>
            </a:r>
            <a:r>
              <a:rPr lang="en-US" altLang="ko-KR" dirty="0" err="1"/>
              <a:t>CANbus</a:t>
            </a:r>
            <a:r>
              <a:rPr lang="ko-KR" altLang="en-US" dirty="0"/>
              <a:t> </a:t>
            </a:r>
            <a:r>
              <a:rPr lang="en-US" altLang="ko-KR" dirty="0"/>
              <a:t>name</a:t>
            </a:r>
            <a:r>
              <a:rPr lang="ko-KR" altLang="en-US" dirty="0"/>
              <a:t>이 표시됨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F5FB756-9B05-4A49-A379-A8A42D652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503" y="1748657"/>
            <a:ext cx="5286375" cy="838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A6D0610-74DB-4D36-B907-89D09E009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720" y="3041050"/>
            <a:ext cx="31623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5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 Rx </a:t>
            </a:r>
            <a:r>
              <a:rPr lang="ko-KR" altLang="en-US" dirty="0"/>
              <a:t>수정 </a:t>
            </a:r>
            <a:r>
              <a:rPr lang="en-US" altLang="ko-KR" dirty="0"/>
              <a:t>– Raptor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기존 </a:t>
            </a:r>
            <a:r>
              <a:rPr lang="en-US" altLang="ko-KR" dirty="0"/>
              <a:t>Raptor Library Model</a:t>
            </a:r>
            <a:r>
              <a:rPr lang="ko-KR" altLang="en-US" dirty="0"/>
              <a:t>의 </a:t>
            </a:r>
            <a:r>
              <a:rPr lang="en-US" altLang="ko-KR" dirty="0"/>
              <a:t>Masking</a:t>
            </a:r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CDD097-C80D-4EE9-8F45-4ADFC45C57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430"/>
          <a:stretch/>
        </p:blipFill>
        <p:spPr>
          <a:xfrm>
            <a:off x="395536" y="1450252"/>
            <a:ext cx="3006979" cy="19787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850073-4A1D-41E9-938B-B305D5832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489" y="2015763"/>
            <a:ext cx="3638550" cy="84772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25E0A6EE-4D28-4965-81B0-5B06D3114703}"/>
              </a:ext>
            </a:extLst>
          </p:cNvPr>
          <p:cNvGrpSpPr/>
          <p:nvPr/>
        </p:nvGrpSpPr>
        <p:grpSpPr>
          <a:xfrm>
            <a:off x="5384825" y="5283199"/>
            <a:ext cx="3019425" cy="1145977"/>
            <a:chOff x="5384825" y="5283199"/>
            <a:chExt cx="3019425" cy="114597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F16040E-5235-444C-B8B2-140F6EEFE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84825" y="5283199"/>
              <a:ext cx="3019425" cy="838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AF494E-E54A-42F5-9295-0B5B90B298F5}"/>
                </a:ext>
              </a:extLst>
            </p:cNvPr>
            <p:cNvSpPr txBox="1"/>
            <p:nvPr/>
          </p:nvSpPr>
          <p:spPr>
            <a:xfrm>
              <a:off x="6084168" y="6121399"/>
              <a:ext cx="172819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+mn-ea"/>
                  <a:ea typeface="+mn-ea"/>
                </a:rPr>
                <a:t>상위 </a:t>
              </a:r>
              <a:r>
                <a:rPr lang="en-US" altLang="ko-KR" sz="1400" b="1" dirty="0">
                  <a:latin typeface="+mn-ea"/>
                </a:rPr>
                <a:t>Block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03F49AF-8C2A-4E43-8CEE-00EFDE62854F}"/>
              </a:ext>
            </a:extLst>
          </p:cNvPr>
          <p:cNvGrpSpPr/>
          <p:nvPr/>
        </p:nvGrpSpPr>
        <p:grpSpPr>
          <a:xfrm>
            <a:off x="3580070" y="2252687"/>
            <a:ext cx="1443249" cy="307777"/>
            <a:chOff x="3635896" y="2131848"/>
            <a:chExt cx="1443249" cy="307777"/>
          </a:xfrm>
        </p:grpSpPr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37477FF9-9D01-4A87-9973-28A6AF4B1595}"/>
                </a:ext>
              </a:extLst>
            </p:cNvPr>
            <p:cNvCxnSpPr/>
            <p:nvPr/>
          </p:nvCxnSpPr>
          <p:spPr>
            <a:xfrm flipH="1">
              <a:off x="3635896" y="2420888"/>
              <a:ext cx="14401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F18B6A-DDE8-40F9-8757-74528C619440}"/>
                </a:ext>
              </a:extLst>
            </p:cNvPr>
            <p:cNvSpPr txBox="1"/>
            <p:nvPr/>
          </p:nvSpPr>
          <p:spPr>
            <a:xfrm>
              <a:off x="3763730" y="2131848"/>
              <a:ext cx="13154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referencing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94773F3-FF2E-4CD5-A426-F547089F2A55}"/>
              </a:ext>
            </a:extLst>
          </p:cNvPr>
          <p:cNvGrpSpPr/>
          <p:nvPr/>
        </p:nvGrpSpPr>
        <p:grpSpPr>
          <a:xfrm rot="5400000">
            <a:off x="6891987" y="3400933"/>
            <a:ext cx="1615697" cy="1371341"/>
            <a:chOff x="3004623" y="1049547"/>
            <a:chExt cx="1615697" cy="1371341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D0A4DC-70A2-4DAB-82C6-65E3BFEFDD8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812471" y="1613039"/>
              <a:ext cx="1" cy="16156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2555C3-FC93-496D-BC45-5DDFC1F9CF32}"/>
                </a:ext>
              </a:extLst>
            </p:cNvPr>
            <p:cNvSpPr txBox="1"/>
            <p:nvPr/>
          </p:nvSpPr>
          <p:spPr>
            <a:xfrm rot="16200000">
              <a:off x="3141504" y="1553366"/>
              <a:ext cx="13154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referencing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984C19B-DD31-44FB-A02B-E5D813598DA5}"/>
              </a:ext>
            </a:extLst>
          </p:cNvPr>
          <p:cNvSpPr txBox="1"/>
          <p:nvPr/>
        </p:nvSpPr>
        <p:spPr>
          <a:xfrm>
            <a:off x="7170585" y="4186038"/>
            <a:ext cx="107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F152FB-DDF8-4416-B30C-F2BC06FACFBB}"/>
              </a:ext>
            </a:extLst>
          </p:cNvPr>
          <p:cNvSpPr txBox="1"/>
          <p:nvPr/>
        </p:nvSpPr>
        <p:spPr>
          <a:xfrm>
            <a:off x="3882090" y="2506884"/>
            <a:ext cx="107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C07DE5-FBDF-4619-8A44-06BC637912FC}"/>
              </a:ext>
            </a:extLst>
          </p:cNvPr>
          <p:cNvSpPr txBox="1"/>
          <p:nvPr/>
        </p:nvSpPr>
        <p:spPr>
          <a:xfrm>
            <a:off x="3002908" y="5545225"/>
            <a:ext cx="107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CANbus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B78E33-A032-4DAB-A5A3-F3D4AA86DE2A}"/>
              </a:ext>
            </a:extLst>
          </p:cNvPr>
          <p:cNvSpPr txBox="1"/>
          <p:nvPr/>
        </p:nvSpPr>
        <p:spPr>
          <a:xfrm>
            <a:off x="2883802" y="5190719"/>
            <a:ext cx="1315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referencing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0CFF7E1-AD7B-4087-88BB-E76E7BD92A0A}"/>
              </a:ext>
            </a:extLst>
          </p:cNvPr>
          <p:cNvCxnSpPr>
            <a:cxnSpLocks/>
          </p:cNvCxnSpPr>
          <p:nvPr/>
        </p:nvCxnSpPr>
        <p:spPr>
          <a:xfrm flipV="1">
            <a:off x="2123728" y="3746454"/>
            <a:ext cx="0" cy="1770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1F0CBDE-F80F-4CD9-842F-AF9B6BE2F427}"/>
              </a:ext>
            </a:extLst>
          </p:cNvPr>
          <p:cNvCxnSpPr/>
          <p:nvPr/>
        </p:nvCxnSpPr>
        <p:spPr>
          <a:xfrm>
            <a:off x="2123728" y="5517232"/>
            <a:ext cx="283556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9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 Rx </a:t>
            </a:r>
            <a:r>
              <a:rPr lang="ko-KR" altLang="en-US" dirty="0"/>
              <a:t>수정 </a:t>
            </a:r>
            <a:r>
              <a:rPr lang="en-US" altLang="ko-KR" dirty="0"/>
              <a:t>– Motohawk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Motohawk</a:t>
            </a:r>
            <a:r>
              <a:rPr lang="ko-KR" altLang="en-US" dirty="0"/>
              <a:t>를 위한 </a:t>
            </a:r>
            <a:r>
              <a:rPr lang="en-US" altLang="ko-KR" dirty="0"/>
              <a:t>mask </a:t>
            </a:r>
            <a:r>
              <a:rPr lang="ko-KR" altLang="en-US" dirty="0"/>
              <a:t>수정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850073-4A1D-41E9-938B-B305D5832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770" y="1535867"/>
            <a:ext cx="3638550" cy="84772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25E0A6EE-4D28-4965-81B0-5B06D3114703}"/>
              </a:ext>
            </a:extLst>
          </p:cNvPr>
          <p:cNvGrpSpPr/>
          <p:nvPr/>
        </p:nvGrpSpPr>
        <p:grpSpPr>
          <a:xfrm>
            <a:off x="3839106" y="4803303"/>
            <a:ext cx="3019425" cy="1145977"/>
            <a:chOff x="5384825" y="5283199"/>
            <a:chExt cx="3019425" cy="114597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F16040E-5235-444C-B8B2-140F6EEFE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84825" y="5283199"/>
              <a:ext cx="3019425" cy="838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AF494E-E54A-42F5-9295-0B5B90B298F5}"/>
                </a:ext>
              </a:extLst>
            </p:cNvPr>
            <p:cNvSpPr txBox="1"/>
            <p:nvPr/>
          </p:nvSpPr>
          <p:spPr>
            <a:xfrm>
              <a:off x="6084168" y="6121399"/>
              <a:ext cx="172819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+mn-ea"/>
                  <a:ea typeface="+mn-ea"/>
                </a:rPr>
                <a:t>상위 </a:t>
              </a:r>
              <a:r>
                <a:rPr lang="en-US" altLang="ko-KR" sz="1400" b="1" dirty="0">
                  <a:latin typeface="+mn-ea"/>
                </a:rPr>
                <a:t>Block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94773F3-FF2E-4CD5-A426-F547089F2A55}"/>
              </a:ext>
            </a:extLst>
          </p:cNvPr>
          <p:cNvGrpSpPr/>
          <p:nvPr/>
        </p:nvGrpSpPr>
        <p:grpSpPr>
          <a:xfrm rot="5400000">
            <a:off x="5105765" y="2976801"/>
            <a:ext cx="2121758" cy="1346286"/>
            <a:chOff x="2794829" y="1049547"/>
            <a:chExt cx="2121758" cy="134628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D0A4DC-70A2-4DAB-82C6-65E3BFEFDD8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855708" y="1334954"/>
              <a:ext cx="0" cy="21217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2555C3-FC93-496D-BC45-5DDFC1F9CF32}"/>
                </a:ext>
              </a:extLst>
            </p:cNvPr>
            <p:cNvSpPr txBox="1"/>
            <p:nvPr/>
          </p:nvSpPr>
          <p:spPr>
            <a:xfrm rot="16200000">
              <a:off x="3141504" y="1553366"/>
              <a:ext cx="13154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referencing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984C19B-DD31-44FB-A02B-E5D813598DA5}"/>
              </a:ext>
            </a:extLst>
          </p:cNvPr>
          <p:cNvSpPr txBox="1"/>
          <p:nvPr/>
        </p:nvSpPr>
        <p:spPr>
          <a:xfrm>
            <a:off x="5624866" y="3706142"/>
            <a:ext cx="107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C07DE5-FBDF-4619-8A44-06BC637912FC}"/>
              </a:ext>
            </a:extLst>
          </p:cNvPr>
          <p:cNvSpPr txBox="1"/>
          <p:nvPr/>
        </p:nvSpPr>
        <p:spPr>
          <a:xfrm>
            <a:off x="1674856" y="5065329"/>
            <a:ext cx="10772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CANbus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수동입력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E95E1E8-80C5-4478-B1C4-A21B25ED4175}"/>
              </a:ext>
            </a:extLst>
          </p:cNvPr>
          <p:cNvCxnSpPr>
            <a:cxnSpLocks/>
          </p:cNvCxnSpPr>
          <p:nvPr/>
        </p:nvCxnSpPr>
        <p:spPr>
          <a:xfrm>
            <a:off x="1475656" y="5065329"/>
            <a:ext cx="2123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25A22A-B27E-49C7-9F24-CF8E8AFD286D}"/>
              </a:ext>
            </a:extLst>
          </p:cNvPr>
          <p:cNvSpPr txBox="1"/>
          <p:nvPr/>
        </p:nvSpPr>
        <p:spPr>
          <a:xfrm>
            <a:off x="937055" y="2639339"/>
            <a:ext cx="107720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CANbus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 parameter 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추가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DDA29C9-67A6-4CAD-B88B-63D93212BBBF}"/>
              </a:ext>
            </a:extLst>
          </p:cNvPr>
          <p:cNvCxnSpPr/>
          <p:nvPr/>
        </p:nvCxnSpPr>
        <p:spPr>
          <a:xfrm flipV="1">
            <a:off x="1475656" y="3593447"/>
            <a:ext cx="0" cy="14718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059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 Rx </a:t>
            </a:r>
            <a:r>
              <a:rPr lang="ko-KR" altLang="en-US" dirty="0"/>
              <a:t>수정 </a:t>
            </a:r>
            <a:r>
              <a:rPr lang="en-US" altLang="ko-KR" dirty="0"/>
              <a:t>– Motohawk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상위 </a:t>
            </a:r>
            <a:r>
              <a:rPr lang="en-US" altLang="ko-KR" dirty="0"/>
              <a:t>Block masking </a:t>
            </a:r>
            <a:r>
              <a:rPr lang="ko-KR" altLang="en-US" dirty="0"/>
              <a:t>수정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Parameter</a:t>
            </a:r>
            <a:r>
              <a:rPr lang="ko-KR" altLang="en-US" dirty="0"/>
              <a:t> 추가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2">
              <a:buSzPct val="100000"/>
            </a:pPr>
            <a:r>
              <a:rPr lang="ko-KR" altLang="en-US" dirty="0"/>
              <a:t>수동으로 입력할 수 있도록 </a:t>
            </a:r>
            <a:r>
              <a:rPr lang="en-US" altLang="ko-KR" dirty="0" err="1"/>
              <a:t>msgnam</a:t>
            </a:r>
            <a:r>
              <a:rPr lang="ko-KR" altLang="en-US" dirty="0"/>
              <a:t>과 </a:t>
            </a:r>
            <a:r>
              <a:rPr lang="en-US" altLang="ko-KR" dirty="0" err="1"/>
              <a:t>msgbus</a:t>
            </a:r>
            <a:r>
              <a:rPr lang="ko-KR" altLang="en-US" dirty="0"/>
              <a:t>추가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6D0610-74DB-4D36-B907-89D09E009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274" y="836712"/>
            <a:ext cx="3162300" cy="876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68FA94F-40F5-4D85-A3D0-97A0A3C3B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7" y="1913630"/>
            <a:ext cx="7715250" cy="207645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F1E24CD-C712-4DCD-BE11-D237CA361D85}"/>
              </a:ext>
            </a:extLst>
          </p:cNvPr>
          <p:cNvSpPr/>
          <p:nvPr/>
        </p:nvSpPr>
        <p:spPr>
          <a:xfrm>
            <a:off x="2915816" y="3140968"/>
            <a:ext cx="5472608" cy="432048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87B72F-C10E-41A2-9AF0-037FF3457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4739700"/>
            <a:ext cx="3981450" cy="819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74983D-1C0F-4B19-B41B-DAF121D3A89A}"/>
              </a:ext>
            </a:extLst>
          </p:cNvPr>
          <p:cNvSpPr txBox="1"/>
          <p:nvPr/>
        </p:nvSpPr>
        <p:spPr>
          <a:xfrm>
            <a:off x="23501" y="6085515"/>
            <a:ext cx="295232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+mn-ea"/>
                <a:ea typeface="+mn-ea"/>
              </a:rPr>
              <a:t>*CAN Tx</a:t>
            </a:r>
            <a:r>
              <a:rPr lang="ko-KR" altLang="en-US" sz="1600" b="1" dirty="0">
                <a:latin typeface="+mn-ea"/>
                <a:ea typeface="+mn-ea"/>
              </a:rPr>
              <a:t>도 동일하게 수정</a:t>
            </a:r>
          </a:p>
        </p:txBody>
      </p:sp>
    </p:spTree>
    <p:extLst>
      <p:ext uri="{BB962C8B-B14F-4D97-AF65-F5344CB8AC3E}">
        <p14:creationId xmlns:p14="http://schemas.microsoft.com/office/powerpoint/2010/main" val="353659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 Rx </a:t>
            </a:r>
            <a:r>
              <a:rPr lang="ko-KR" altLang="en-US" dirty="0"/>
              <a:t>수정 </a:t>
            </a:r>
            <a:r>
              <a:rPr lang="en-US" altLang="ko-KR" dirty="0"/>
              <a:t>– Motohawk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상위 </a:t>
            </a:r>
            <a:r>
              <a:rPr lang="en-US" altLang="ko-KR" dirty="0"/>
              <a:t>Block masking </a:t>
            </a:r>
            <a:r>
              <a:rPr lang="ko-KR" altLang="en-US" dirty="0"/>
              <a:t>수정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Initialization</a:t>
            </a:r>
            <a:r>
              <a:rPr lang="ko-KR" altLang="en-US" dirty="0"/>
              <a:t>의 </a:t>
            </a:r>
            <a:r>
              <a:rPr lang="en-US" altLang="ko-KR" dirty="0" err="1"/>
              <a:t>CANBlockInit</a:t>
            </a:r>
            <a:r>
              <a:rPr lang="ko-KR" altLang="en-US" dirty="0"/>
              <a:t> 함수 수정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6D0610-74DB-4D36-B907-89D09E009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628800"/>
            <a:ext cx="3162300" cy="876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BFFB5AC-300F-462F-B1A8-063161C50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644096"/>
            <a:ext cx="5086350" cy="647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4E8757A-3F06-4387-86D2-E1BD85AF6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49426"/>
            <a:ext cx="9144000" cy="3615878"/>
          </a:xfrm>
          <a:prstGeom prst="rect">
            <a:avLst/>
          </a:prstGeom>
        </p:spPr>
      </p:pic>
      <p:sp>
        <p:nvSpPr>
          <p:cNvPr id="8" name="오른쪽 중괄호 7">
            <a:extLst>
              <a:ext uri="{FF2B5EF4-FFF2-40B4-BE49-F238E27FC236}">
                <a16:creationId xmlns:a16="http://schemas.microsoft.com/office/drawing/2014/main" id="{2DD5907F-6F73-49EA-B57A-1A933274EA29}"/>
              </a:ext>
            </a:extLst>
          </p:cNvPr>
          <p:cNvSpPr/>
          <p:nvPr/>
        </p:nvSpPr>
        <p:spPr>
          <a:xfrm>
            <a:off x="4320479" y="5789823"/>
            <a:ext cx="288032" cy="375481"/>
          </a:xfrm>
          <a:prstGeom prst="rightBrace">
            <a:avLst>
              <a:gd name="adj1" fmla="val 28862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893C4-4268-4AA6-A695-975A77AFBE6D}"/>
              </a:ext>
            </a:extLst>
          </p:cNvPr>
          <p:cNvSpPr txBox="1"/>
          <p:nvPr/>
        </p:nvSpPr>
        <p:spPr>
          <a:xfrm>
            <a:off x="4608511" y="5654397"/>
            <a:ext cx="4053358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+mn-ea"/>
                <a:ea typeface="+mn-ea"/>
              </a:rPr>
              <a:t>내부 </a:t>
            </a:r>
            <a:r>
              <a:rPr lang="en-US" altLang="ko-KR" sz="1200" dirty="0">
                <a:latin typeface="+mn-ea"/>
                <a:ea typeface="+mn-ea"/>
              </a:rPr>
              <a:t>Bus creator</a:t>
            </a:r>
            <a:r>
              <a:rPr lang="ko-KR" altLang="en-US" sz="1200" dirty="0">
                <a:latin typeface="+mn-ea"/>
                <a:ea typeface="+mn-ea"/>
              </a:rPr>
              <a:t>의 </a:t>
            </a:r>
            <a:r>
              <a:rPr lang="en-US" altLang="ko-KR" sz="1200" dirty="0">
                <a:latin typeface="+mn-ea"/>
                <a:ea typeface="+mn-ea"/>
              </a:rPr>
              <a:t>output port </a:t>
            </a:r>
            <a:r>
              <a:rPr lang="ko-KR" altLang="en-US" sz="1200" dirty="0">
                <a:latin typeface="+mn-ea"/>
                <a:ea typeface="+mn-ea"/>
              </a:rPr>
              <a:t>이름과 현재 </a:t>
            </a:r>
            <a:r>
              <a:rPr lang="en-US" altLang="ko-KR" sz="1200" dirty="0">
                <a:latin typeface="+mn-ea"/>
                <a:ea typeface="+mn-ea"/>
              </a:rPr>
              <a:t>Block</a:t>
            </a:r>
            <a:r>
              <a:rPr lang="ko-KR" altLang="en-US" sz="1200" dirty="0">
                <a:latin typeface="+mn-ea"/>
                <a:ea typeface="+mn-ea"/>
              </a:rPr>
              <a:t>의 이름을 </a:t>
            </a:r>
            <a:r>
              <a:rPr lang="en-US" altLang="ko-KR" sz="1200" dirty="0" err="1">
                <a:latin typeface="+mn-ea"/>
                <a:ea typeface="+mn-ea"/>
              </a:rPr>
              <a:t>msgnam</a:t>
            </a:r>
            <a:r>
              <a:rPr lang="ko-KR" altLang="en-US" sz="1200" dirty="0">
                <a:latin typeface="+mn-ea"/>
                <a:ea typeface="+mn-ea"/>
              </a:rPr>
              <a:t>으로 지정하는 명령문 제외한 나머지 주석처리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868A04-2346-488B-B1B8-ECC3237C093A}"/>
              </a:ext>
            </a:extLst>
          </p:cNvPr>
          <p:cNvSpPr txBox="1"/>
          <p:nvPr/>
        </p:nvSpPr>
        <p:spPr>
          <a:xfrm>
            <a:off x="6000652" y="851795"/>
            <a:ext cx="295232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+mn-ea"/>
                <a:ea typeface="+mn-ea"/>
              </a:rPr>
              <a:t>*CAN Tx</a:t>
            </a:r>
            <a:r>
              <a:rPr lang="ko-KR" altLang="en-US" sz="1600" b="1" dirty="0">
                <a:latin typeface="+mn-ea"/>
                <a:ea typeface="+mn-ea"/>
              </a:rPr>
              <a:t>도 동일하게 수정</a:t>
            </a:r>
          </a:p>
        </p:txBody>
      </p:sp>
    </p:spTree>
    <p:extLst>
      <p:ext uri="{BB962C8B-B14F-4D97-AF65-F5344CB8AC3E}">
        <p14:creationId xmlns:p14="http://schemas.microsoft.com/office/powerpoint/2010/main" val="124484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 Rx </a:t>
            </a:r>
            <a:r>
              <a:rPr lang="ko-KR" altLang="en-US" dirty="0"/>
              <a:t>수정 </a:t>
            </a:r>
            <a:r>
              <a:rPr lang="en-US" altLang="ko-KR" dirty="0"/>
              <a:t>– Motohawk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err="1"/>
              <a:t>RxMsgStatus</a:t>
            </a:r>
            <a:r>
              <a:rPr lang="en-US" altLang="ko-KR" dirty="0"/>
              <a:t> Block masking </a:t>
            </a:r>
            <a:r>
              <a:rPr lang="ko-KR" altLang="en-US" dirty="0"/>
              <a:t>수정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Initialization </a:t>
            </a:r>
            <a:r>
              <a:rPr lang="ko-KR" altLang="en-US" dirty="0"/>
              <a:t>수정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2">
              <a:buSzPct val="100000"/>
            </a:pPr>
            <a:r>
              <a:rPr lang="en-US" altLang="ko-KR" dirty="0" err="1"/>
              <a:t>Msgnam</a:t>
            </a:r>
            <a:r>
              <a:rPr lang="ko-KR" altLang="en-US" dirty="0"/>
              <a:t> </a:t>
            </a:r>
            <a:r>
              <a:rPr lang="en-US" altLang="ko-KR" dirty="0"/>
              <a:t>parameter</a:t>
            </a:r>
            <a:r>
              <a:rPr lang="ko-KR" altLang="en-US" dirty="0"/>
              <a:t>에 </a:t>
            </a:r>
            <a:r>
              <a:rPr lang="en-US" altLang="ko-KR" dirty="0"/>
              <a:t>CAN Rx message</a:t>
            </a:r>
            <a:r>
              <a:rPr lang="ko-KR" altLang="en-US" dirty="0"/>
              <a:t>로 부터 받은 값을 저장하는 명령문을 주석처리 함으로써 상위 </a:t>
            </a:r>
            <a:r>
              <a:rPr lang="en-US" altLang="ko-KR" dirty="0"/>
              <a:t>Block</a:t>
            </a:r>
            <a:r>
              <a:rPr lang="ko-KR" altLang="en-US" dirty="0"/>
              <a:t>에서 입력한 </a:t>
            </a:r>
            <a:r>
              <a:rPr lang="en-US" altLang="ko-KR" dirty="0" err="1"/>
              <a:t>msgnam</a:t>
            </a:r>
            <a:r>
              <a:rPr lang="ko-KR" altLang="en-US" dirty="0"/>
              <a:t>을 사용하도록 수정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EAD721-F413-4EFC-9139-7A7339EA1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2608"/>
            <a:ext cx="3962400" cy="9048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0C0D0A-B90D-488C-B195-49B246712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55516"/>
            <a:ext cx="9144000" cy="267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2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3. CAN Rx </a:t>
            </a:r>
            <a:r>
              <a:rPr lang="ko-KR" altLang="en-US" dirty="0"/>
              <a:t>수정 </a:t>
            </a:r>
            <a:r>
              <a:rPr lang="en-US" altLang="ko-KR" dirty="0"/>
              <a:t>– Motohawk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결과 구조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850073-4A1D-41E9-938B-B305D5832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770" y="1535867"/>
            <a:ext cx="3638550" cy="84772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25E0A6EE-4D28-4965-81B0-5B06D3114703}"/>
              </a:ext>
            </a:extLst>
          </p:cNvPr>
          <p:cNvGrpSpPr/>
          <p:nvPr/>
        </p:nvGrpSpPr>
        <p:grpSpPr>
          <a:xfrm>
            <a:off x="3839106" y="4803303"/>
            <a:ext cx="3019425" cy="1145977"/>
            <a:chOff x="5384825" y="5283199"/>
            <a:chExt cx="3019425" cy="114597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F16040E-5235-444C-B8B2-140F6EEFE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84825" y="5283199"/>
              <a:ext cx="3019425" cy="838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AF494E-E54A-42F5-9295-0B5B90B298F5}"/>
                </a:ext>
              </a:extLst>
            </p:cNvPr>
            <p:cNvSpPr txBox="1"/>
            <p:nvPr/>
          </p:nvSpPr>
          <p:spPr>
            <a:xfrm>
              <a:off x="6084168" y="6121399"/>
              <a:ext cx="172819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+mn-ea"/>
                  <a:ea typeface="+mn-ea"/>
                </a:rPr>
                <a:t>상위 </a:t>
              </a:r>
              <a:r>
                <a:rPr lang="en-US" altLang="ko-KR" sz="1400" b="1" dirty="0">
                  <a:latin typeface="+mn-ea"/>
                </a:rPr>
                <a:t>Block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94773F3-FF2E-4CD5-A426-F547089F2A55}"/>
              </a:ext>
            </a:extLst>
          </p:cNvPr>
          <p:cNvGrpSpPr/>
          <p:nvPr/>
        </p:nvGrpSpPr>
        <p:grpSpPr>
          <a:xfrm rot="5400000">
            <a:off x="5105765" y="2976801"/>
            <a:ext cx="2121758" cy="1346286"/>
            <a:chOff x="2794829" y="1049547"/>
            <a:chExt cx="2121758" cy="134628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D0A4DC-70A2-4DAB-82C6-65E3BFEFDD8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855708" y="1334954"/>
              <a:ext cx="0" cy="21217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2555C3-FC93-496D-BC45-5DDFC1F9CF32}"/>
                </a:ext>
              </a:extLst>
            </p:cNvPr>
            <p:cNvSpPr txBox="1"/>
            <p:nvPr/>
          </p:nvSpPr>
          <p:spPr>
            <a:xfrm rot="16200000">
              <a:off x="3141504" y="1553366"/>
              <a:ext cx="13154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referencing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984C19B-DD31-44FB-A02B-E5D813598DA5}"/>
              </a:ext>
            </a:extLst>
          </p:cNvPr>
          <p:cNvSpPr txBox="1"/>
          <p:nvPr/>
        </p:nvSpPr>
        <p:spPr>
          <a:xfrm>
            <a:off x="5624866" y="3706142"/>
            <a:ext cx="107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C07DE5-FBDF-4619-8A44-06BC637912FC}"/>
              </a:ext>
            </a:extLst>
          </p:cNvPr>
          <p:cNvSpPr txBox="1"/>
          <p:nvPr/>
        </p:nvSpPr>
        <p:spPr>
          <a:xfrm>
            <a:off x="1674856" y="5065329"/>
            <a:ext cx="10772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CANbus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수동입력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E95E1E8-80C5-4478-B1C4-A21B25ED4175}"/>
              </a:ext>
            </a:extLst>
          </p:cNvPr>
          <p:cNvCxnSpPr>
            <a:cxnSpLocks/>
          </p:cNvCxnSpPr>
          <p:nvPr/>
        </p:nvCxnSpPr>
        <p:spPr>
          <a:xfrm>
            <a:off x="1475656" y="5065329"/>
            <a:ext cx="2123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25A22A-B27E-49C7-9F24-CF8E8AFD286D}"/>
              </a:ext>
            </a:extLst>
          </p:cNvPr>
          <p:cNvSpPr txBox="1"/>
          <p:nvPr/>
        </p:nvSpPr>
        <p:spPr>
          <a:xfrm>
            <a:off x="937055" y="2639339"/>
            <a:ext cx="107720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CANbus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 parameter 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추가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DDA29C9-67A6-4CAD-B88B-63D93212BBBF}"/>
              </a:ext>
            </a:extLst>
          </p:cNvPr>
          <p:cNvCxnSpPr/>
          <p:nvPr/>
        </p:nvCxnSpPr>
        <p:spPr>
          <a:xfrm flipV="1">
            <a:off x="1475656" y="3593447"/>
            <a:ext cx="0" cy="14718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722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>
          <a:xfrm>
            <a:off x="179512" y="736601"/>
            <a:ext cx="8856983" cy="5387542"/>
          </a:xfrm>
        </p:spPr>
        <p:txBody>
          <a:bodyPr/>
          <a:lstStyle/>
          <a:p>
            <a:pPr marL="0" indent="0" algn="ctr">
              <a:buSzPct val="100000"/>
              <a:buNone/>
            </a:pPr>
            <a:endParaRPr lang="en-US" altLang="ko-KR" dirty="0"/>
          </a:p>
          <a:p>
            <a:pPr marL="0" indent="0" algn="ctr">
              <a:buSzPct val="100000"/>
              <a:buNone/>
            </a:pPr>
            <a:endParaRPr lang="en-US" altLang="ko-KR" sz="2800" b="1" spc="-150" dirty="0">
              <a:solidFill>
                <a:srgbClr val="0A60A3"/>
              </a:solidFill>
            </a:endParaRPr>
          </a:p>
          <a:p>
            <a:pPr marL="0" indent="0" algn="ctr">
              <a:buSzPct val="100000"/>
              <a:buNone/>
            </a:pPr>
            <a:endParaRPr lang="en-US" altLang="ko-KR" sz="2800" b="1" spc="-150" dirty="0">
              <a:solidFill>
                <a:srgbClr val="0A60A3"/>
              </a:solidFill>
            </a:endParaRPr>
          </a:p>
          <a:p>
            <a:pPr marL="0" indent="0" algn="ctr">
              <a:buSzPct val="100000"/>
              <a:buNone/>
            </a:pPr>
            <a:r>
              <a:rPr lang="ko-KR" altLang="en-US" sz="4500" b="1" spc="-150" dirty="0">
                <a:solidFill>
                  <a:srgbClr val="0A60A3"/>
                </a:solidFill>
              </a:rPr>
              <a:t>결과</a:t>
            </a:r>
            <a:endParaRPr lang="ko-KR" altLang="en-US" sz="6000" b="1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139268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결과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A6A9DD-51A7-491E-AA31-F68B5DEA6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1000"/>
            <a:ext cx="9144000" cy="52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5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/>
          <p:cNvSpPr>
            <a:spLocks noGrp="1"/>
          </p:cNvSpPr>
          <p:nvPr>
            <p:ph sz="half" idx="4294967295"/>
          </p:nvPr>
        </p:nvSpPr>
        <p:spPr>
          <a:xfrm>
            <a:off x="0" y="736600"/>
            <a:ext cx="8482013" cy="5387975"/>
          </a:xfrm>
        </p:spPr>
        <p:txBody>
          <a:bodyPr/>
          <a:lstStyle/>
          <a:p>
            <a:pPr marL="455612" lvl="1" indent="0">
              <a:buSzPct val="100000"/>
              <a:buNone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3" name="AutoShape 2" descr="cat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4" descr="cat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AutoShape 9" descr="dog recognition에 대한 이미지 검색결과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11" descr="dog recognition에 대한 이미지 검색결과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15" descr="dog recognition에 대한 이미지 검색결과"/>
          <p:cNvSpPr>
            <a:spLocks noChangeAspect="1" noChangeArrowheads="1"/>
          </p:cNvSpPr>
          <p:nvPr/>
        </p:nvSpPr>
        <p:spPr bwMode="auto">
          <a:xfrm>
            <a:off x="9302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내용 개체 틀 1"/>
          <p:cNvSpPr txBox="1">
            <a:spLocks/>
          </p:cNvSpPr>
          <p:nvPr/>
        </p:nvSpPr>
        <p:spPr bwMode="auto">
          <a:xfrm>
            <a:off x="190371" y="889001"/>
            <a:ext cx="8482356" cy="53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 marL="342900" indent="-342900" algn="l" defTabSz="455613" rtl="0" eaLnBrk="1" fontAlgn="base" latinLnBrk="1" hangingPunct="1">
              <a:lnSpc>
                <a:spcPct val="150000"/>
              </a:lnSpc>
              <a:spcBef>
                <a:spcPts val="575"/>
              </a:spcBef>
              <a:spcAft>
                <a:spcPct val="0"/>
              </a:spcAft>
              <a:buClr>
                <a:srgbClr val="000AF2"/>
              </a:buClr>
              <a:buSzPct val="70000"/>
              <a:buFont typeface="맑은 고딕" pitchFamily="50" charset="-127"/>
              <a:buChar char="■"/>
              <a:defRPr lang="ko-KR" altLang="en-US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1350" indent="-185738" algn="l" defTabSz="455613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70000"/>
              <a:buFont typeface="맑은 고딕" pitchFamily="50" charset="-127"/>
              <a:buChar char="▶"/>
              <a:defRPr lang="ko-KR" altLang="en-US" sz="1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455613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70000"/>
              <a:buFont typeface="Wingdings" pitchFamily="2" charset="2"/>
              <a:buChar char="l"/>
              <a:defRPr lang="ko-KR" altLang="en-US" sz="1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8613" indent="-227013" algn="l" defTabSz="455613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70000"/>
              <a:buFont typeface="Wingdings" pitchFamily="2" charset="2"/>
              <a:buChar char="Ø"/>
              <a:defRPr lang="ko-KR" altLang="en-US" sz="11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7213" algn="l" defTabSz="455613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70000"/>
              <a:buFont typeface="Arial" pitchFamily="34" charset="0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459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3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7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1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buSzPct val="100000"/>
            </a:pPr>
            <a:endParaRPr lang="en-US" altLang="ko-KR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6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ontrol_works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0</TotalTime>
  <Words>771</Words>
  <Application>Microsoft Office PowerPoint</Application>
  <PresentationFormat>화면 슬라이드 쇼(4:3)</PresentationFormat>
  <Paragraphs>236</Paragraphs>
  <Slides>26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HY헤드라인M</vt:lpstr>
      <vt:lpstr>Univers Com 45 Light</vt:lpstr>
      <vt:lpstr>맑은 고딕</vt:lpstr>
      <vt:lpstr>Arial</vt:lpstr>
      <vt:lpstr>Wingdings</vt:lpstr>
      <vt:lpstr>control_works</vt:lpstr>
      <vt:lpstr>2_CWI Black</vt:lpstr>
      <vt:lpstr>PowerPoint 프레젠테이션</vt:lpstr>
      <vt:lpstr>PowerPoint 프레젠테이션</vt:lpstr>
      <vt:lpstr>교체 배경</vt:lpstr>
      <vt:lpstr>PowerPoint 프레젠테이션</vt:lpstr>
      <vt:lpstr>주요 Library Model 교체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NB09</dc:creator>
  <cp:lastModifiedBy>KweonNahyun</cp:lastModifiedBy>
  <cp:revision>269</cp:revision>
  <dcterms:created xsi:type="dcterms:W3CDTF">2020-01-06T00:01:51Z</dcterms:created>
  <dcterms:modified xsi:type="dcterms:W3CDTF">2020-02-24T04:30:09Z</dcterms:modified>
</cp:coreProperties>
</file>