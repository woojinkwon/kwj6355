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1" r:id="rId17"/>
    <p:sldId id="275" r:id="rId18"/>
    <p:sldId id="270" r:id="rId19"/>
    <p:sldId id="276" r:id="rId20"/>
    <p:sldId id="272" r:id="rId21"/>
    <p:sldId id="273" r:id="rId22"/>
    <p:sldId id="274" r:id="rId23"/>
    <p:sldId id="277" r:id="rId24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174" autoAdjust="0"/>
    <p:restoredTop sz="94660"/>
  </p:normalViewPr>
  <p:slideViewPr>
    <p:cSldViewPr>
      <p:cViewPr varScale="1">
        <p:scale>
          <a:sx n="91" d="100"/>
          <a:sy n="91" d="100"/>
        </p:scale>
        <p:origin x="-1494" y="-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Main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6395586" y="4005066"/>
            <a:ext cx="2640910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1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3963966"/>
            <a:ext cx="5688632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rgbClr val="000099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cxnSp>
        <p:nvCxnSpPr>
          <p:cNvPr id="12" name="직선 연결선 11"/>
          <p:cNvCxnSpPr/>
          <p:nvPr/>
        </p:nvCxnSpPr>
        <p:spPr>
          <a:xfrm>
            <a:off x="6300192" y="3933935"/>
            <a:ext cx="0" cy="2303379"/>
          </a:xfrm>
          <a:prstGeom prst="line">
            <a:avLst/>
          </a:prstGeom>
          <a:ln w="15875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C:\Users\2003201\Downloads\Work\CW\logo png\symbol+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195" y="1268761"/>
            <a:ext cx="3510457" cy="58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3419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3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9734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3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8195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179513" y="736601"/>
            <a:ext cx="848235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1140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257697" y="836712"/>
            <a:ext cx="8634791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3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66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B07ABD-9CF0-4740-83C3-E0134CC7C2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616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/>
        </p:nvSpPr>
        <p:spPr>
          <a:xfrm>
            <a:off x="1263650" y="2714630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62163" y="3581400"/>
            <a:ext cx="5867400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hape 135"/>
          <p:cNvSpPr txBox="1"/>
          <p:nvPr/>
        </p:nvSpPr>
        <p:spPr>
          <a:xfrm>
            <a:off x="357188" y="3945467"/>
            <a:ext cx="8501062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/>
        </p:nvSpPr>
        <p:spPr>
          <a:xfrm>
            <a:off x="5748345" y="5063464"/>
            <a:ext cx="3186043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/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/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fld id="{73B07ABD-9CF0-4740-83C3-E0134CC7C2D0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3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/>
        </p:nvSpPr>
        <p:spPr>
          <a:xfrm>
            <a:off x="1263650" y="2714630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62163" y="3581400"/>
            <a:ext cx="5867400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fld id="{73B07ABD-9CF0-4740-83C3-E0134CC7C2D0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1864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7419D33-7494-40C4-AC0B-AE730A9A4A91}" type="datetimeFigureOut">
              <a:rPr lang="ko-KR" altLang="en-US" smtClean="0"/>
              <a:t>2020-02-03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07ABD-9CF0-4740-83C3-E0134CC7C2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1478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>
          <a:xfrm>
            <a:off x="35496" y="9966"/>
            <a:ext cx="9108504" cy="6832288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연결선 27"/>
          <p:cNvCxnSpPr/>
          <p:nvPr userDrawn="1"/>
        </p:nvCxnSpPr>
        <p:spPr>
          <a:xfrm>
            <a:off x="6315433" y="3933056"/>
            <a:ext cx="0" cy="2160242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6395586" y="4005070"/>
            <a:ext cx="2640910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3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3963970"/>
            <a:ext cx="5688632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15" name="직사각형 14"/>
          <p:cNvSpPr/>
          <p:nvPr userDrawn="1"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 userDrawn="1"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Shape 22"/>
          <p:cNvSpPr txBox="1"/>
          <p:nvPr userDrawn="1"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  <p:pic>
        <p:nvPicPr>
          <p:cNvPr id="2050" name="Picture 2" descr="C:\Users\2003201\Downloads\Work\CW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197" y="1268760"/>
            <a:ext cx="3510457" cy="587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3679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7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321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7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1543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179513" y="736601"/>
            <a:ext cx="848235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5846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7" name="직사각형 6"/>
          <p:cNvSpPr/>
          <p:nvPr userDrawn="1"/>
        </p:nvSpPr>
        <p:spPr>
          <a:xfrm>
            <a:off x="257698" y="836712"/>
            <a:ext cx="8634791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5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1680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498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/>
          <p:cNvSpPr/>
          <p:nvPr userDrawn="1"/>
        </p:nvSpPr>
        <p:spPr>
          <a:xfrm>
            <a:off x="257698" y="836712"/>
            <a:ext cx="8634791" cy="540060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직선 연결선 32"/>
          <p:cNvCxnSpPr/>
          <p:nvPr userDrawn="1"/>
        </p:nvCxnSpPr>
        <p:spPr>
          <a:xfrm>
            <a:off x="251520" y="548680"/>
            <a:ext cx="8640960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39" name="직사각형 38"/>
          <p:cNvSpPr/>
          <p:nvPr userDrawn="1"/>
        </p:nvSpPr>
        <p:spPr>
          <a:xfrm>
            <a:off x="262344" y="836712"/>
            <a:ext cx="8634791" cy="54006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</p:spPr>
        <p:txBody>
          <a:bodyPr/>
          <a:lstStyle>
            <a:lvl1pPr>
              <a:lnSpc>
                <a:spcPct val="160000"/>
              </a:lnSpc>
              <a:defRPr sz="18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lnSpc>
                <a:spcPct val="110000"/>
              </a:lnSpc>
              <a:defRPr sz="16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>
              <a:lnSpc>
                <a:spcPct val="110000"/>
              </a:lnSpc>
              <a:defRPr sz="14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>
              <a:lnSpc>
                <a:spcPct val="110000"/>
              </a:lnSpc>
              <a:defRPr sz="11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>
              <a:defRPr sz="1400">
                <a:latin typeface="+mn-lt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</p:txBody>
      </p:sp>
      <p:sp>
        <p:nvSpPr>
          <p:cNvPr id="42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5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3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pic>
        <p:nvPicPr>
          <p:cNvPr id="11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0191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263650" y="2714634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6" name="Shape 135"/>
          <p:cNvSpPr txBox="1"/>
          <p:nvPr userDrawn="1"/>
        </p:nvSpPr>
        <p:spPr>
          <a:xfrm>
            <a:off x="357188" y="3945467"/>
            <a:ext cx="8501062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 userDrawn="1"/>
        </p:nvSpPr>
        <p:spPr>
          <a:xfrm>
            <a:off x="5748345" y="5063468"/>
            <a:ext cx="3186043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bg1"/>
                </a:solidFill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8115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263650" y="2714634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8995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468321" y="6353"/>
            <a:ext cx="8169275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69901" y="738189"/>
            <a:ext cx="8174038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>
              <a:lnSpc>
                <a:spcPct val="120000"/>
              </a:lnSpc>
              <a:buSzPct val="100000"/>
            </a:pPr>
            <a:r>
              <a:rPr lang="en-US" altLang="ko-KR" dirty="0" smtClean="0"/>
              <a:t>Master text styles</a:t>
            </a:r>
          </a:p>
          <a:p>
            <a:pPr lvl="1">
              <a:lnSpc>
                <a:spcPct val="110000"/>
              </a:lnSpc>
            </a:pPr>
            <a:r>
              <a:rPr lang="en-US" altLang="ko-KR" dirty="0" smtClean="0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 altLang="ko-KR" dirty="0" smtClean="0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 altLang="ko-KR" dirty="0" smtClean="0"/>
              <a:t>Fourth level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73B07ABD-9CF0-4740-83C3-E0134CC7C2D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2" name="Shape 22"/>
          <p:cNvSpPr txBox="1"/>
          <p:nvPr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035537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txStyles>
    <p:titleStyle>
      <a:lvl1pPr algn="l" defTabSz="455613" rtl="0" eaLnBrk="1" fontAlgn="base" latinLnBrk="1" hangingPunct="1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eaLnBrk="1" fontAlgn="base" latinLnBrk="1" hangingPunct="1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lang="en-US" altLang="ko-KR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lang="en-US" altLang="ko-KR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lang="en-US" altLang="ko-KR" sz="14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lang="en-US" altLang="ko-KR" sz="11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eaLnBrk="1" fontAlgn="base" latinLnBrk="1" hangingPunct="1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468322" y="6353"/>
            <a:ext cx="8169275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69901" y="738189"/>
            <a:ext cx="8174038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 smtClean="0"/>
              <a:t>Master text styles</a:t>
            </a:r>
          </a:p>
          <a:p>
            <a:pPr lvl="1"/>
            <a:r>
              <a:rPr lang="en-US" altLang="ko-KR" dirty="0" smtClean="0"/>
              <a:t>Second level</a:t>
            </a:r>
          </a:p>
          <a:p>
            <a:pPr lvl="2"/>
            <a:r>
              <a:rPr lang="en-US" altLang="ko-KR" dirty="0" smtClean="0"/>
              <a:t>Third level</a:t>
            </a:r>
          </a:p>
          <a:p>
            <a:pPr lvl="3"/>
            <a:r>
              <a:rPr lang="en-US" altLang="ko-KR" dirty="0" smtClean="0"/>
              <a:t>Fourth level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7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sp>
        <p:nvSpPr>
          <p:cNvPr id="20" name="Shape 22"/>
          <p:cNvSpPr txBox="1"/>
          <p:nvPr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27847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455613" rtl="0" eaLnBrk="1" fontAlgn="base" latinLnBrk="1" hangingPunct="1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eaLnBrk="1" fontAlgn="base" latinLnBrk="1" hangingPunct="1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eaLnBrk="1" fontAlgn="base" latinLnBrk="1" hangingPunct="1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 smtClean="0"/>
              <a:t>Simulink Source Control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2243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/>
              <a:t>Project </a:t>
            </a:r>
            <a:r>
              <a:rPr lang="ko-KR" altLang="en-US" dirty="0"/>
              <a:t>생성 및 원격저장소 </a:t>
            </a:r>
            <a:r>
              <a:rPr lang="ko-KR" altLang="en-US" dirty="0" smtClean="0"/>
              <a:t>연결</a:t>
            </a:r>
            <a:endParaRPr lang="en-US" altLang="ko-KR" dirty="0" smtClean="0"/>
          </a:p>
          <a:p>
            <a:pPr>
              <a:buSzPct val="100000"/>
            </a:pPr>
            <a:r>
              <a:rPr lang="ko-KR" altLang="en-US" dirty="0" smtClean="0"/>
              <a:t>파일상태</a:t>
            </a:r>
            <a:endParaRPr lang="en-US" altLang="ko-KR" dirty="0" smtClean="0"/>
          </a:p>
          <a:p>
            <a:pPr>
              <a:buSzPct val="100000"/>
            </a:pPr>
            <a:r>
              <a:rPr lang="en-US" altLang="ko-KR" dirty="0" smtClean="0"/>
              <a:t>Branch</a:t>
            </a:r>
          </a:p>
          <a:p>
            <a:pPr>
              <a:buSzPct val="100000"/>
            </a:pPr>
            <a:r>
              <a:rPr lang="ko-KR" altLang="en-US" dirty="0" smtClean="0"/>
              <a:t>비교</a:t>
            </a:r>
            <a:endParaRPr lang="en-US" altLang="ko-KR" dirty="0" smtClean="0"/>
          </a:p>
          <a:p>
            <a:pPr>
              <a:buSzPct val="100000"/>
            </a:pPr>
            <a:r>
              <a:rPr lang="en-US" altLang="ko-KR" dirty="0" smtClean="0"/>
              <a:t>Revert</a:t>
            </a:r>
          </a:p>
          <a:p>
            <a:pPr>
              <a:buSzPct val="100000"/>
            </a:pPr>
            <a:r>
              <a:rPr lang="en-US" altLang="ko-KR" dirty="0" smtClean="0"/>
              <a:t>Merge</a:t>
            </a:r>
          </a:p>
          <a:p>
            <a:pPr>
              <a:buSzPct val="100000"/>
            </a:pPr>
            <a:r>
              <a:rPr lang="en-US" altLang="ko-KR" dirty="0" smtClean="0"/>
              <a:t>Stash</a:t>
            </a:r>
          </a:p>
          <a:p>
            <a:pPr>
              <a:buSzPct val="100000"/>
            </a:pPr>
            <a:r>
              <a:rPr lang="en-US" altLang="ko-KR" dirty="0" smtClean="0"/>
              <a:t>Fetch, Push, Pull</a:t>
            </a:r>
          </a:p>
          <a:p>
            <a:pPr>
              <a:buSzPct val="100000"/>
            </a:pPr>
            <a:r>
              <a:rPr lang="en-US" altLang="ko-KR" dirty="0" smtClean="0"/>
              <a:t>Tag </a:t>
            </a:r>
            <a:r>
              <a:rPr lang="ko-KR" altLang="en-US" dirty="0" smtClean="0"/>
              <a:t>유의사항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Contents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62241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빈 프로젝트 생성</a:t>
            </a: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프로젝트 파일이 저장될 폴더 와 이름 설정</a:t>
            </a:r>
            <a:endParaRPr lang="en-US" altLang="ko-KR" dirty="0" smtClean="0"/>
          </a:p>
          <a:p>
            <a:pPr>
              <a:buSzPct val="100000"/>
            </a:pPr>
            <a:r>
              <a:rPr lang="ko-KR" altLang="en-US" dirty="0" smtClean="0"/>
              <a:t>소스컨트롤 사용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해당 폴더에 대하여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버전관리를 시작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init</a:t>
            </a:r>
            <a:r>
              <a:rPr lang="en-US" altLang="ko-KR" dirty="0" smtClean="0"/>
              <a:t> . </a:t>
            </a:r>
            <a:r>
              <a:rPr lang="ko-KR" altLang="en-US" dirty="0" smtClean="0"/>
              <a:t>과 같은 기능</a:t>
            </a: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1. Project </a:t>
            </a:r>
            <a:r>
              <a:rPr lang="ko-KR" altLang="en-US" dirty="0" smtClean="0"/>
              <a:t>생성 및 원격저장소 연결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빈 프로젝트</a:t>
            </a:r>
            <a:r>
              <a:rPr lang="en-US" altLang="ko-KR" dirty="0" smtClean="0"/>
              <a:t>(I)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35"/>
          <a:stretch/>
        </p:blipFill>
        <p:spPr bwMode="auto">
          <a:xfrm>
            <a:off x="539553" y="1268759"/>
            <a:ext cx="4553558" cy="151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9470" y="3284984"/>
            <a:ext cx="5400600" cy="31326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직사각형 5"/>
          <p:cNvSpPr/>
          <p:nvPr/>
        </p:nvSpPr>
        <p:spPr>
          <a:xfrm>
            <a:off x="6948264" y="3284984"/>
            <a:ext cx="504056" cy="576064"/>
          </a:xfrm>
          <a:prstGeom prst="rect">
            <a:avLst/>
          </a:prstGeom>
          <a:grpFill/>
          <a:ln w="38100">
            <a:solidFill>
              <a:srgbClr val="FF0000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5292080" y="5805264"/>
            <a:ext cx="1152128" cy="216024"/>
          </a:xfrm>
          <a:prstGeom prst="rect">
            <a:avLst/>
          </a:prstGeom>
          <a:grpFill/>
          <a:ln w="28575">
            <a:solidFill>
              <a:srgbClr val="FF0000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961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원격저장소 생성</a:t>
            </a: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프로젝트가 생성되면 해당 폴더에 프로젝트에 관한 파일이 생성되고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처음 원격저장소를 생성하여 연결하기 위해선 해당 폴더를 </a:t>
            </a:r>
            <a:r>
              <a:rPr lang="en-US" altLang="ko-KR" dirty="0" smtClean="0"/>
              <a:t>Commit </a:t>
            </a:r>
            <a:r>
              <a:rPr lang="ko-KR" altLang="en-US" dirty="0" smtClean="0"/>
              <a:t>해야 한다</a:t>
            </a:r>
            <a:r>
              <a:rPr lang="en-US" altLang="ko-KR" dirty="0" smtClean="0"/>
              <a:t>.</a:t>
            </a:r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공유 탭에서 </a:t>
            </a:r>
            <a:r>
              <a:rPr lang="en-US" altLang="ko-KR" dirty="0" err="1" smtClean="0"/>
              <a:t>Github</a:t>
            </a:r>
            <a:r>
              <a:rPr lang="ko-KR" altLang="en-US" dirty="0" smtClean="0"/>
              <a:t>를 클릭 시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Github</a:t>
            </a:r>
            <a:r>
              <a:rPr lang="en-US" altLang="ko-KR" dirty="0" smtClean="0"/>
              <a:t> </a:t>
            </a:r>
            <a:r>
              <a:rPr lang="ko-KR" altLang="en-US" dirty="0" smtClean="0"/>
              <a:t>계정과 저장소 이름을 입력하여 원격저장</a:t>
            </a:r>
            <a:r>
              <a:rPr lang="ko-KR" altLang="en-US" dirty="0"/>
              <a:t>소</a:t>
            </a:r>
            <a:r>
              <a:rPr lang="en-US" altLang="ko-KR" dirty="0" smtClean="0"/>
              <a:t> </a:t>
            </a:r>
            <a:r>
              <a:rPr lang="ko-KR" altLang="en-US" dirty="0" smtClean="0"/>
              <a:t>생성 가능</a:t>
            </a: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en-US" altLang="ko-KR" dirty="0" smtClean="0"/>
              <a:t>. Project </a:t>
            </a:r>
            <a:r>
              <a:rPr lang="ko-KR" altLang="en-US" dirty="0" smtClean="0"/>
              <a:t>생성 및 원격저장소 연결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빈 프로젝트</a:t>
            </a:r>
            <a:r>
              <a:rPr lang="en-US" altLang="ko-KR" dirty="0" smtClean="0"/>
              <a:t>(II)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2025123"/>
            <a:ext cx="3461940" cy="25197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직사각형 3"/>
          <p:cNvSpPr/>
          <p:nvPr/>
        </p:nvSpPr>
        <p:spPr>
          <a:xfrm>
            <a:off x="1763688" y="2025123"/>
            <a:ext cx="432048" cy="611789"/>
          </a:xfrm>
          <a:prstGeom prst="rect">
            <a:avLst/>
          </a:prstGeom>
          <a:grpFill/>
          <a:ln w="28575">
            <a:solidFill>
              <a:srgbClr val="FF0000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2987824" y="2025123"/>
            <a:ext cx="360040" cy="305894"/>
          </a:xfrm>
          <a:prstGeom prst="rect">
            <a:avLst/>
          </a:prstGeom>
          <a:grpFill/>
          <a:ln w="28575">
            <a:solidFill>
              <a:srgbClr val="FF0000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4972964"/>
            <a:ext cx="4075708" cy="14614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19620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err="1" smtClean="0"/>
              <a:t>Git</a:t>
            </a:r>
            <a:r>
              <a:rPr lang="en-US" altLang="ko-KR" dirty="0" smtClean="0"/>
              <a:t> clone – </a:t>
            </a:r>
            <a:r>
              <a:rPr lang="ko-KR" altLang="en-US" dirty="0" smtClean="0"/>
              <a:t>이미 존재하는 원격저장소를 연결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프로젝트 생성 시</a:t>
            </a:r>
            <a:r>
              <a:rPr lang="en-US" altLang="ko-KR" dirty="0" smtClean="0"/>
              <a:t>, “</a:t>
            </a:r>
            <a:r>
              <a:rPr lang="en-US" altLang="ko-KR" dirty="0" err="1" smtClean="0"/>
              <a:t>git</a:t>
            </a:r>
            <a:r>
              <a:rPr lang="ko-KR" altLang="en-US" dirty="0" smtClean="0"/>
              <a:t>에서</a:t>
            </a:r>
            <a:r>
              <a:rPr lang="en-US" altLang="ko-KR" dirty="0" smtClean="0"/>
              <a:t>” </a:t>
            </a:r>
            <a:r>
              <a:rPr lang="ko-KR" altLang="en-US" dirty="0" smtClean="0"/>
              <a:t>옵션</a:t>
            </a:r>
            <a:r>
              <a:rPr lang="ko-KR" altLang="en-US" dirty="0"/>
              <a:t>을</a:t>
            </a:r>
            <a:r>
              <a:rPr lang="ko-KR" altLang="en-US" dirty="0" smtClean="0"/>
              <a:t> 선택한다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필수적으로 빈 폴더를 선택해야 한다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원격저장소에 </a:t>
            </a:r>
            <a:r>
              <a:rPr lang="en-US" altLang="ko-KR" dirty="0" smtClean="0"/>
              <a:t>.</a:t>
            </a:r>
            <a:r>
              <a:rPr lang="en-US" altLang="ko-KR" dirty="0" err="1" smtClean="0"/>
              <a:t>prj</a:t>
            </a:r>
            <a:r>
              <a:rPr lang="en-US" altLang="ko-KR" dirty="0" smtClean="0"/>
              <a:t> </a:t>
            </a:r>
            <a:r>
              <a:rPr lang="ko-KR" altLang="en-US" dirty="0" smtClean="0"/>
              <a:t>파일이 존재해야 정상적으로 원격저장소를 연결하며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존재하지 않다면 </a:t>
            </a:r>
            <a:r>
              <a:rPr lang="en-US" altLang="ko-KR" dirty="0" smtClean="0"/>
              <a:t>.</a:t>
            </a:r>
            <a:r>
              <a:rPr lang="en-US" altLang="ko-KR" dirty="0" err="1" smtClean="0"/>
              <a:t>prj</a:t>
            </a:r>
            <a:r>
              <a:rPr lang="ko-KR" altLang="en-US" dirty="0" smtClean="0"/>
              <a:t>파일 생성 지시를</a:t>
            </a:r>
            <a:r>
              <a:rPr lang="en-US" altLang="ko-KR" dirty="0" smtClean="0"/>
              <a:t> </a:t>
            </a:r>
            <a:r>
              <a:rPr lang="ko-KR" altLang="en-US" dirty="0" smtClean="0"/>
              <a:t>받게 된다</a:t>
            </a:r>
            <a:r>
              <a:rPr lang="en-US" altLang="ko-KR" dirty="0" smtClean="0"/>
              <a:t>.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1. Project </a:t>
            </a:r>
            <a:r>
              <a:rPr lang="ko-KR" altLang="en-US" dirty="0" smtClean="0"/>
              <a:t>생성 및 원격저장소 연결 </a:t>
            </a:r>
            <a:r>
              <a:rPr lang="en-US" altLang="ko-KR" dirty="0" smtClean="0"/>
              <a:t>– </a:t>
            </a:r>
            <a:r>
              <a:rPr lang="en-US" altLang="ko-KR" dirty="0" err="1" smtClean="0"/>
              <a:t>Gitclone</a:t>
            </a:r>
            <a:endParaRPr lang="ko-KR" alt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9" y="1628800"/>
            <a:ext cx="4824536" cy="17829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98230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파일 상태</a:t>
            </a:r>
            <a:endParaRPr lang="en-US" altLang="ko-KR" dirty="0"/>
          </a:p>
          <a:p>
            <a:pPr lvl="1">
              <a:buSzPct val="100000"/>
            </a:pPr>
            <a:r>
              <a:rPr lang="en-US" altLang="ko-KR" dirty="0" smtClean="0"/>
              <a:t>‘</a:t>
            </a:r>
            <a:r>
              <a:rPr lang="ko-KR" altLang="en-US" dirty="0" smtClean="0"/>
              <a:t>모두</a:t>
            </a:r>
            <a:r>
              <a:rPr lang="en-US" altLang="ko-KR" dirty="0" smtClean="0"/>
              <a:t>’ </a:t>
            </a:r>
            <a:r>
              <a:rPr lang="ko-KR" altLang="en-US" dirty="0" smtClean="0"/>
              <a:t>탭에서 프로젝트가 포함된 폴더의 모든 파일</a:t>
            </a:r>
            <a:r>
              <a:rPr lang="en-US" altLang="ko-KR" dirty="0" smtClean="0"/>
              <a:t>, </a:t>
            </a:r>
            <a:r>
              <a:rPr lang="ko-KR" altLang="en-US" dirty="0" smtClean="0"/>
              <a:t>폴더가 나타난다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‘</a:t>
            </a:r>
            <a:r>
              <a:rPr lang="ko-KR" altLang="en-US" dirty="0" smtClean="0"/>
              <a:t>프로젝트</a:t>
            </a:r>
            <a:r>
              <a:rPr lang="en-US" altLang="ko-KR" dirty="0" smtClean="0"/>
              <a:t>’ </a:t>
            </a:r>
            <a:r>
              <a:rPr lang="ko-KR" altLang="en-US" dirty="0" smtClean="0"/>
              <a:t>탭에서 프로젝트에 쓰이는 파일이 표시된다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endParaRPr lang="en-US" altLang="ko-KR" dirty="0"/>
          </a:p>
          <a:p>
            <a:pPr lvl="2">
              <a:buSzPct val="100000"/>
            </a:pPr>
            <a:endParaRPr lang="en-US" altLang="ko-KR" dirty="0" smtClean="0"/>
          </a:p>
          <a:p>
            <a:pPr lvl="2">
              <a:buSzPct val="100000"/>
            </a:pPr>
            <a:r>
              <a:rPr lang="ko-KR" altLang="en-US" dirty="0" smtClean="0"/>
              <a:t>파일이 추가되었을 땐 </a:t>
            </a:r>
            <a:r>
              <a:rPr lang="en-US" altLang="ko-KR" dirty="0" smtClean="0"/>
              <a:t>‘+’,  </a:t>
            </a:r>
            <a:r>
              <a:rPr lang="ko-KR" altLang="en-US" dirty="0" smtClean="0"/>
              <a:t>수정되지 않은 상태일 땐 </a:t>
            </a:r>
            <a:r>
              <a:rPr lang="en-US" altLang="ko-KR" dirty="0" smtClean="0"/>
              <a:t>‘</a:t>
            </a:r>
            <a:r>
              <a:rPr lang="ko-KR" altLang="en-US" dirty="0"/>
              <a:t>●</a:t>
            </a:r>
            <a:r>
              <a:rPr lang="en-US" altLang="ko-KR" dirty="0" smtClean="0"/>
              <a:t>’, </a:t>
            </a:r>
            <a:r>
              <a:rPr lang="ko-KR" altLang="en-US" dirty="0" smtClean="0"/>
              <a:t>수정 되었을 땐 </a:t>
            </a:r>
            <a:r>
              <a:rPr lang="en-US" altLang="ko-KR" dirty="0" smtClean="0"/>
              <a:t>‘</a:t>
            </a:r>
            <a:r>
              <a:rPr lang="ko-KR" altLang="en-US" dirty="0" smtClean="0"/>
              <a:t>■</a:t>
            </a:r>
            <a:r>
              <a:rPr lang="en-US" altLang="ko-KR" dirty="0" smtClean="0"/>
              <a:t>’ </a:t>
            </a:r>
            <a:r>
              <a:rPr lang="ko-KR" altLang="en-US" dirty="0" smtClean="0"/>
              <a:t>마크가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ko-KR" altLang="en-US" dirty="0" smtClean="0"/>
              <a:t>에 표시된다</a:t>
            </a:r>
            <a:r>
              <a:rPr lang="en-US" altLang="ko-KR" dirty="0" smtClean="0"/>
              <a:t>.</a:t>
            </a:r>
          </a:p>
          <a:p>
            <a:pPr lvl="2">
              <a:buSzPct val="100000"/>
            </a:pPr>
            <a:r>
              <a:rPr lang="ko-KR" altLang="en-US" dirty="0" smtClean="0"/>
              <a:t>파일이 수정되면 </a:t>
            </a:r>
            <a:r>
              <a:rPr lang="en-US" altLang="ko-KR" dirty="0" smtClean="0"/>
              <a:t>‘</a:t>
            </a:r>
            <a:r>
              <a:rPr lang="ko-KR" altLang="en-US" dirty="0" smtClean="0"/>
              <a:t>수정됨</a:t>
            </a:r>
            <a:r>
              <a:rPr lang="en-US" altLang="ko-KR" dirty="0" smtClean="0"/>
              <a:t>’ </a:t>
            </a:r>
            <a:r>
              <a:rPr lang="ko-KR" altLang="en-US" dirty="0" smtClean="0"/>
              <a:t>에 파일이 표시된다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상태에 체크표시가 되어있는 경우</a:t>
            </a:r>
            <a:r>
              <a:rPr lang="en-US" altLang="ko-KR" dirty="0" smtClean="0"/>
              <a:t>, </a:t>
            </a:r>
            <a:r>
              <a:rPr lang="ko-KR" altLang="en-US" dirty="0" smtClean="0"/>
              <a:t>해당 파일이 </a:t>
            </a:r>
            <a:r>
              <a:rPr lang="en-US" altLang="ko-KR" dirty="0" smtClean="0"/>
              <a:t>project</a:t>
            </a:r>
            <a:r>
              <a:rPr lang="ko-KR" altLang="en-US" dirty="0" smtClean="0"/>
              <a:t>에 포함되어있는 것이며 </a:t>
            </a:r>
            <a:r>
              <a:rPr lang="en-US" altLang="ko-KR" dirty="0" smtClean="0"/>
              <a:t>project</a:t>
            </a:r>
            <a:r>
              <a:rPr lang="ko-KR" altLang="en-US" dirty="0" smtClean="0"/>
              <a:t>에 포함되지 않은 파일을 포함시키고자 할 경우 파일추가를 해야 한다</a:t>
            </a:r>
            <a:r>
              <a:rPr lang="en-US" altLang="ko-KR" dirty="0" smtClean="0"/>
              <a:t>.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2. </a:t>
            </a:r>
            <a:r>
              <a:rPr lang="ko-KR" altLang="en-US" dirty="0" smtClean="0"/>
              <a:t>파일상태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700808"/>
            <a:ext cx="2733675" cy="131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3356992"/>
            <a:ext cx="33813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4368" y="5589240"/>
            <a:ext cx="371475" cy="63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11382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Branch</a:t>
            </a:r>
          </a:p>
          <a:p>
            <a:pPr lvl="1">
              <a:buSzPct val="100000"/>
            </a:pPr>
            <a:r>
              <a:rPr lang="ko-KR" altLang="en-US" dirty="0" smtClean="0"/>
              <a:t>수정된 파일을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하면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가 생성되고</a:t>
            </a:r>
            <a:r>
              <a:rPr lang="en-US" altLang="ko-KR" dirty="0" smtClean="0"/>
              <a:t>,</a:t>
            </a:r>
            <a:r>
              <a:rPr lang="ko-KR" altLang="en-US" dirty="0" smtClean="0"/>
              <a:t> 이를 확인 할 수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3. Branch(I)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487" y="1692677"/>
            <a:ext cx="6128745" cy="47606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345900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Log</a:t>
            </a:r>
          </a:p>
          <a:p>
            <a:pPr lvl="1">
              <a:buSzPct val="100000"/>
            </a:pPr>
            <a:r>
              <a:rPr lang="en-US" altLang="ko-KR" dirty="0" smtClean="0"/>
              <a:t>Version</a:t>
            </a:r>
            <a:r>
              <a:rPr lang="ko-KR" altLang="en-US" dirty="0" smtClean="0"/>
              <a:t>이 생성된 흐름인 </a:t>
            </a:r>
            <a:r>
              <a:rPr lang="en-US" altLang="ko-KR" dirty="0" smtClean="0"/>
              <a:t>log</a:t>
            </a:r>
            <a:r>
              <a:rPr lang="ko-KR" altLang="en-US" dirty="0" smtClean="0"/>
              <a:t>를 시각적으로 확인 가능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작성자</a:t>
            </a:r>
            <a:r>
              <a:rPr lang="en-US" altLang="ko-KR" dirty="0" smtClean="0"/>
              <a:t>, </a:t>
            </a:r>
            <a:r>
              <a:rPr lang="ko-KR" altLang="en-US" dirty="0" smtClean="0"/>
              <a:t>주석</a:t>
            </a:r>
            <a:r>
              <a:rPr lang="en-US" altLang="ko-KR" dirty="0" smtClean="0"/>
              <a:t>, </a:t>
            </a:r>
            <a:r>
              <a:rPr lang="ko-KR" altLang="en-US" dirty="0" smtClean="0"/>
              <a:t>생성일자</a:t>
            </a:r>
            <a:r>
              <a:rPr lang="en-US" altLang="ko-KR" dirty="0" smtClean="0"/>
              <a:t>, ID</a:t>
            </a:r>
            <a:r>
              <a:rPr lang="ko-KR" altLang="en-US" dirty="0" smtClean="0"/>
              <a:t>를 확인 가능</a:t>
            </a:r>
            <a:endParaRPr lang="en-US" altLang="ko-KR" dirty="0" smtClean="0"/>
          </a:p>
          <a:p>
            <a:pPr>
              <a:buSzPct val="100000"/>
            </a:pPr>
            <a:r>
              <a:rPr lang="ko-KR" altLang="en-US" dirty="0" err="1" smtClean="0"/>
              <a:t>브랜치</a:t>
            </a:r>
            <a:r>
              <a:rPr lang="ko-KR" altLang="en-US" dirty="0" smtClean="0"/>
              <a:t> 브라우저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err="1" smtClean="0"/>
              <a:t>브랜치를</a:t>
            </a:r>
            <a:r>
              <a:rPr lang="ko-KR" altLang="en-US" dirty="0" smtClean="0"/>
              <a:t> 선택하여 전환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병합 할 수 있으며 각각 </a:t>
            </a:r>
            <a:r>
              <a:rPr lang="en-US" altLang="ko-KR" dirty="0" smtClean="0"/>
              <a:t>checkout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기능에 해당한다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en-US" altLang="ko-KR" dirty="0" err="1" smtClean="0"/>
              <a:t>Git</a:t>
            </a:r>
            <a:r>
              <a:rPr lang="en-US" altLang="ko-KR" dirty="0" smtClean="0"/>
              <a:t> bash</a:t>
            </a:r>
            <a:r>
              <a:rPr lang="ko-KR" altLang="en-US" dirty="0" smtClean="0"/>
              <a:t>는 </a:t>
            </a:r>
            <a:r>
              <a:rPr lang="ko-KR" altLang="en-US" dirty="0" err="1" smtClean="0"/>
              <a:t>브랜치</a:t>
            </a:r>
            <a:r>
              <a:rPr lang="ko-KR" altLang="en-US" dirty="0" smtClean="0"/>
              <a:t> 포인터가 아닌 특정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에 </a:t>
            </a:r>
            <a:r>
              <a:rPr lang="en-US" altLang="ko-KR" dirty="0" smtClean="0"/>
              <a:t>checkout</a:t>
            </a:r>
            <a:r>
              <a:rPr lang="ko-KR" altLang="en-US" dirty="0" smtClean="0"/>
              <a:t>이 가능하지만</a:t>
            </a:r>
            <a:r>
              <a:rPr lang="en-US" altLang="ko-KR" dirty="0" smtClean="0"/>
              <a:t>(Detached Checkout) Simulink Project</a:t>
            </a:r>
            <a:r>
              <a:rPr lang="ko-KR" altLang="en-US" dirty="0" smtClean="0"/>
              <a:t>는 </a:t>
            </a:r>
            <a:r>
              <a:rPr lang="ko-KR" altLang="en-US" dirty="0" err="1" smtClean="0"/>
              <a:t>브랜치</a:t>
            </a:r>
            <a:r>
              <a:rPr lang="ko-KR" altLang="en-US" dirty="0" smtClean="0"/>
              <a:t> 포인터로만 전환 가능</a:t>
            </a:r>
            <a:endParaRPr lang="en-US" altLang="ko-KR" dirty="0" smtClean="0"/>
          </a:p>
          <a:p>
            <a:pPr>
              <a:buSzPct val="100000"/>
            </a:pPr>
            <a:r>
              <a:rPr lang="ko-KR" altLang="en-US" dirty="0" err="1" smtClean="0"/>
              <a:t>브랜치와</a:t>
            </a:r>
            <a:r>
              <a:rPr lang="ko-KR" altLang="en-US" dirty="0" smtClean="0"/>
              <a:t> 태그 생성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특정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생성</a:t>
            </a:r>
            <a:endParaRPr lang="en-US" altLang="ko-KR" dirty="0" smtClean="0"/>
          </a:p>
          <a:p>
            <a:pPr>
              <a:buSzPct val="100000"/>
            </a:pPr>
            <a:r>
              <a:rPr lang="ko-KR" altLang="en-US" dirty="0" err="1" smtClean="0"/>
              <a:t>브랜치</a:t>
            </a:r>
            <a:r>
              <a:rPr lang="ko-KR" altLang="en-US" dirty="0" smtClean="0"/>
              <a:t> 삭제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삭제하려는 </a:t>
            </a:r>
            <a:r>
              <a:rPr lang="ko-KR" altLang="en-US" dirty="0" err="1" smtClean="0"/>
              <a:t>브랜치를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브랜치</a:t>
            </a:r>
            <a:r>
              <a:rPr lang="ko-KR" altLang="en-US" dirty="0" smtClean="0"/>
              <a:t> 브라우저에서 선택한 후</a:t>
            </a:r>
            <a:r>
              <a:rPr lang="en-US" altLang="ko-KR" dirty="0" smtClean="0"/>
              <a:t>,    </a:t>
            </a:r>
            <a:r>
              <a:rPr lang="ko-KR" altLang="en-US" dirty="0" smtClean="0"/>
              <a:t>아래에 </a:t>
            </a:r>
            <a:r>
              <a:rPr lang="ko-KR" altLang="en-US" dirty="0" err="1" smtClean="0"/>
              <a:t>브랜치</a:t>
            </a:r>
            <a:r>
              <a:rPr lang="ko-KR" altLang="en-US" dirty="0" smtClean="0"/>
              <a:t> 삭제를 클릭하여 삭제할 수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3. Branch(II)</a:t>
            </a:r>
            <a:endParaRPr lang="ko-KR" alt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128" y="764704"/>
            <a:ext cx="3096344" cy="10265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3808" y="5687387"/>
            <a:ext cx="1619250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136" y="5373216"/>
            <a:ext cx="17145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22377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비교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Simulink</a:t>
            </a:r>
            <a:r>
              <a:rPr lang="ko-KR" altLang="en-US" dirty="0" smtClean="0"/>
              <a:t>에서는 하나의 파일에 대해서만 비교 가능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비교할 모델을 마우스 우 클릭 하여 비교</a:t>
            </a:r>
            <a:r>
              <a:rPr lang="en-US" altLang="ko-KR" dirty="0" smtClean="0"/>
              <a:t>-&gt;</a:t>
            </a:r>
            <a:r>
              <a:rPr lang="ko-KR" altLang="en-US" dirty="0" smtClean="0"/>
              <a:t>수정본과 비교를 클릭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로컬 파일과 비교 </a:t>
            </a:r>
            <a:r>
              <a:rPr lang="en-US" altLang="ko-KR" dirty="0" smtClean="0"/>
              <a:t>: Commit</a:t>
            </a:r>
            <a:r>
              <a:rPr lang="ko-KR" altLang="en-US" dirty="0" smtClean="0"/>
              <a:t>되었던 모델과 현재 로컬 파일을 비교 가능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선택한 파일 비교 </a:t>
            </a:r>
            <a:r>
              <a:rPr lang="en-US" altLang="ko-KR" dirty="0" smtClean="0"/>
              <a:t>: Commit 2</a:t>
            </a:r>
            <a:r>
              <a:rPr lang="ko-KR" altLang="en-US" dirty="0" smtClean="0"/>
              <a:t>개를 선택 할 시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이전 </a:t>
            </a:r>
            <a:r>
              <a:rPr lang="en-US" altLang="ko-KR" dirty="0" smtClean="0"/>
              <a:t>version</a:t>
            </a:r>
            <a:r>
              <a:rPr lang="ko-KR" altLang="en-US" dirty="0" smtClean="0"/>
              <a:t> </a:t>
            </a:r>
            <a:r>
              <a:rPr lang="en-US" altLang="ko-KR" dirty="0" smtClean="0"/>
              <a:t>2</a:t>
            </a:r>
            <a:r>
              <a:rPr lang="ko-KR" altLang="en-US" dirty="0" smtClean="0"/>
              <a:t>개의 파일을 비교 할 수도 있음</a:t>
            </a: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4. </a:t>
            </a:r>
            <a:r>
              <a:rPr lang="ko-KR" altLang="en-US" dirty="0" smtClean="0"/>
              <a:t>비교</a:t>
            </a:r>
            <a:r>
              <a:rPr lang="en-US" altLang="ko-KR" dirty="0" smtClean="0"/>
              <a:t>(I)</a:t>
            </a:r>
            <a:endParaRPr lang="ko-KR" alt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1" y="2055741"/>
            <a:ext cx="4032447" cy="31014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616509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현재 파일을 </a:t>
            </a:r>
            <a:r>
              <a:rPr lang="en-US" altLang="ko-KR" dirty="0" smtClean="0"/>
              <a:t>Mine, </a:t>
            </a:r>
            <a:r>
              <a:rPr lang="ko-KR" altLang="en-US" dirty="0" smtClean="0"/>
              <a:t>이전 </a:t>
            </a:r>
            <a:r>
              <a:rPr lang="en-US" altLang="ko-KR" dirty="0" smtClean="0"/>
              <a:t>version</a:t>
            </a:r>
            <a:r>
              <a:rPr lang="ko-KR" altLang="en-US" dirty="0" smtClean="0"/>
              <a:t>을 </a:t>
            </a:r>
            <a:r>
              <a:rPr lang="en-US" altLang="ko-KR" dirty="0" err="1" smtClean="0"/>
              <a:t>Revison</a:t>
            </a:r>
            <a:r>
              <a:rPr lang="ko-KR" altLang="en-US" dirty="0" smtClean="0"/>
              <a:t>으로 표시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왼쪽 </a:t>
            </a:r>
            <a:r>
              <a:rPr lang="en-US" altLang="ko-KR" dirty="0" smtClean="0"/>
              <a:t>component tree</a:t>
            </a:r>
            <a:r>
              <a:rPr lang="ko-KR" altLang="en-US" dirty="0" smtClean="0"/>
              <a:t>에는 해당 </a:t>
            </a:r>
            <a:r>
              <a:rPr lang="en-US" altLang="ko-KR" dirty="0" smtClean="0"/>
              <a:t>component</a:t>
            </a:r>
            <a:r>
              <a:rPr lang="ko-KR" altLang="en-US" dirty="0" smtClean="0"/>
              <a:t>에 대한 정보가 표시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component tree</a:t>
            </a:r>
            <a:r>
              <a:rPr lang="ko-KR" altLang="en-US" dirty="0" smtClean="0"/>
              <a:t>는 기본적으로 비기능적 변경사항이 </a:t>
            </a:r>
            <a:r>
              <a:rPr lang="en-US" altLang="ko-KR" dirty="0" smtClean="0"/>
              <a:t>filtering</a:t>
            </a:r>
            <a:r>
              <a:rPr lang="ko-KR" altLang="en-US" dirty="0" smtClean="0"/>
              <a:t>되어있어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변경사항만 </a:t>
            </a:r>
            <a:r>
              <a:rPr lang="en-US" altLang="ko-KR" dirty="0" smtClean="0"/>
              <a:t>highlight</a:t>
            </a:r>
            <a:r>
              <a:rPr lang="ko-KR" altLang="en-US" dirty="0" smtClean="0"/>
              <a:t>로 표시되어 있음 </a:t>
            </a:r>
            <a:r>
              <a:rPr lang="en-US" altLang="ko-KR" dirty="0" smtClean="0"/>
              <a:t>(</a:t>
            </a:r>
            <a:r>
              <a:rPr lang="ko-KR" altLang="en-US" dirty="0" smtClean="0"/>
              <a:t>상단 </a:t>
            </a:r>
            <a:r>
              <a:rPr lang="en-US" altLang="ko-KR" dirty="0" smtClean="0"/>
              <a:t>FILTER</a:t>
            </a:r>
            <a:r>
              <a:rPr lang="ko-KR" altLang="en-US" dirty="0" smtClean="0"/>
              <a:t>에서 설정 가능</a:t>
            </a:r>
            <a:r>
              <a:rPr lang="en-US" altLang="ko-KR" dirty="0" smtClean="0"/>
              <a:t>)</a:t>
            </a:r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4. </a:t>
            </a:r>
            <a:r>
              <a:rPr lang="ko-KR" altLang="en-US" dirty="0" smtClean="0"/>
              <a:t>비교</a:t>
            </a:r>
            <a:r>
              <a:rPr lang="en-US" altLang="ko-KR" dirty="0" smtClean="0"/>
              <a:t>(II)</a:t>
            </a:r>
            <a:endParaRPr lang="ko-KR" alt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620688"/>
            <a:ext cx="7221387" cy="4290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39433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Highlight </a:t>
            </a:r>
            <a:r>
              <a:rPr lang="ko-KR" altLang="en-US" dirty="0" smtClean="0"/>
              <a:t>색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파란색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추가 </a:t>
            </a:r>
            <a:r>
              <a:rPr lang="en-US" altLang="ko-KR" dirty="0" smtClean="0"/>
              <a:t>/ </a:t>
            </a:r>
            <a:r>
              <a:rPr lang="ko-KR" altLang="en-US" dirty="0" smtClean="0"/>
              <a:t>보라색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수정 </a:t>
            </a:r>
            <a:r>
              <a:rPr lang="en-US" altLang="ko-KR" dirty="0" smtClean="0"/>
              <a:t>/ </a:t>
            </a:r>
            <a:r>
              <a:rPr lang="ko-KR" altLang="en-US" dirty="0" smtClean="0"/>
              <a:t>주황색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삭제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왼쪽 </a:t>
            </a:r>
            <a:r>
              <a:rPr lang="en-US" altLang="ko-KR" dirty="0" smtClean="0"/>
              <a:t>Tree</a:t>
            </a:r>
            <a:r>
              <a:rPr lang="ko-KR" altLang="en-US" dirty="0" smtClean="0"/>
              <a:t>에서 특정 </a:t>
            </a:r>
            <a:r>
              <a:rPr lang="en-US" altLang="ko-KR" dirty="0" smtClean="0"/>
              <a:t>component</a:t>
            </a:r>
            <a:r>
              <a:rPr lang="ko-KR" altLang="en-US" dirty="0" smtClean="0"/>
              <a:t>를 클릭하면 오른쪽 모델에 강조됨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4. </a:t>
            </a:r>
            <a:r>
              <a:rPr lang="ko-KR" altLang="en-US" dirty="0" smtClean="0"/>
              <a:t>비교</a:t>
            </a:r>
            <a:r>
              <a:rPr lang="en-US" altLang="ko-KR" dirty="0" smtClean="0"/>
              <a:t>(III)</a:t>
            </a:r>
            <a:endParaRPr lang="ko-KR" alt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620688"/>
            <a:ext cx="7221387" cy="4290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72648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Revert</a:t>
            </a:r>
          </a:p>
          <a:p>
            <a:pPr lvl="1">
              <a:buSzPct val="100000"/>
            </a:pPr>
            <a:r>
              <a:rPr lang="en-US" altLang="ko-KR" dirty="0" smtClean="0"/>
              <a:t>Revert</a:t>
            </a:r>
            <a:r>
              <a:rPr lang="ko-KR" altLang="en-US" dirty="0" smtClean="0"/>
              <a:t>하고자 하는 모델을 </a:t>
            </a:r>
            <a:r>
              <a:rPr lang="ko-KR" altLang="en-US" dirty="0" err="1" smtClean="0"/>
              <a:t>우클릭하여</a:t>
            </a:r>
            <a:r>
              <a:rPr lang="ko-KR" altLang="en-US" dirty="0" smtClean="0"/>
              <a:t> 소스컨트롤</a:t>
            </a:r>
            <a:r>
              <a:rPr lang="en-US" altLang="ko-KR" dirty="0" smtClean="0"/>
              <a:t>-&gt; ‘</a:t>
            </a:r>
            <a:r>
              <a:rPr lang="en-US" altLang="ko-KR" dirty="0" err="1" smtClean="0"/>
              <a:t>Git</a:t>
            </a:r>
            <a:r>
              <a:rPr lang="ko-KR" altLang="en-US" dirty="0" smtClean="0"/>
              <a:t>을 사용하여 되돌리기</a:t>
            </a:r>
            <a:r>
              <a:rPr lang="en-US" altLang="ko-KR" dirty="0" smtClean="0"/>
              <a:t>’</a:t>
            </a:r>
            <a:r>
              <a:rPr lang="ko-KR" altLang="en-US" dirty="0" smtClean="0"/>
              <a:t> 선택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Commit log</a:t>
            </a:r>
            <a:r>
              <a:rPr lang="ko-KR" altLang="en-US" dirty="0" smtClean="0"/>
              <a:t>에서 </a:t>
            </a:r>
            <a:r>
              <a:rPr lang="ko-KR" altLang="en-US" dirty="0" err="1" smtClean="0"/>
              <a:t>수정본</a:t>
            </a:r>
            <a:r>
              <a:rPr lang="ko-KR" altLang="en-US" dirty="0" smtClean="0"/>
              <a:t> 선택 및 되돌리기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이전 버전을 단순 확인만 한 후</a:t>
            </a:r>
            <a:r>
              <a:rPr lang="en-US" altLang="ko-KR" dirty="0" smtClean="0"/>
              <a:t>,</a:t>
            </a:r>
            <a:r>
              <a:rPr lang="ko-KR" altLang="en-US" dirty="0" smtClean="0"/>
              <a:t> 다시 현재 </a:t>
            </a:r>
            <a:r>
              <a:rPr lang="en-US" altLang="ko-KR" dirty="0" smtClean="0"/>
              <a:t>head</a:t>
            </a:r>
            <a:r>
              <a:rPr lang="ko-KR" altLang="en-US" dirty="0" smtClean="0"/>
              <a:t>가 위치한 버전으로 되돌리거나 </a:t>
            </a:r>
            <a:r>
              <a:rPr lang="ko-KR" altLang="en-US" dirty="0" err="1" smtClean="0"/>
              <a:t>브랜치에서</a:t>
            </a:r>
            <a:r>
              <a:rPr lang="ko-KR" altLang="en-US" dirty="0" smtClean="0"/>
              <a:t>                             를 사용하여 복원할 수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이전 버전으로 변경하거나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이전 버전으로부터 수정하여 변경하고 싶은 경우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실행하여 </a:t>
            </a:r>
            <a:r>
              <a:rPr lang="en-US" altLang="ko-KR" dirty="0" smtClean="0"/>
              <a:t>version</a:t>
            </a:r>
            <a:r>
              <a:rPr lang="ko-KR" altLang="en-US" dirty="0" smtClean="0"/>
              <a:t>을 </a:t>
            </a:r>
            <a:r>
              <a:rPr lang="en-US" altLang="ko-KR" dirty="0" smtClean="0"/>
              <a:t>update </a:t>
            </a:r>
            <a:r>
              <a:rPr lang="ko-KR" altLang="en-US" dirty="0" smtClean="0"/>
              <a:t>할 수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전체 </a:t>
            </a:r>
            <a:r>
              <a:rPr lang="en-US" altLang="ko-KR" dirty="0" smtClean="0"/>
              <a:t>Simulink project</a:t>
            </a:r>
            <a:r>
              <a:rPr lang="ko-KR" altLang="en-US" dirty="0" smtClean="0"/>
              <a:t>를 특정 버전으로 되돌리는 기능은 없으</a:t>
            </a:r>
            <a:r>
              <a:rPr lang="ko-KR" altLang="en-US" dirty="0"/>
              <a:t>며</a:t>
            </a:r>
            <a:r>
              <a:rPr lang="en-US" altLang="ko-KR" dirty="0" smtClean="0"/>
              <a:t>, </a:t>
            </a:r>
            <a:r>
              <a:rPr lang="ko-KR" altLang="en-US" dirty="0" smtClean="0"/>
              <a:t>하나의 파일만 되돌릴 수 있다</a:t>
            </a:r>
            <a:r>
              <a:rPr lang="en-US" altLang="ko-KR" dirty="0" smtClean="0"/>
              <a:t>.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5. Revert</a:t>
            </a:r>
            <a:endParaRPr lang="ko-KR" alt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2" y="2492896"/>
            <a:ext cx="1495425" cy="361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35113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Merge</a:t>
            </a:r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Master branch</a:t>
            </a:r>
            <a:r>
              <a:rPr lang="ko-KR" altLang="en-US" dirty="0" smtClean="0"/>
              <a:t>에 </a:t>
            </a:r>
            <a:r>
              <a:rPr lang="en-US" altLang="ko-KR" dirty="0" err="1" smtClean="0"/>
              <a:t>test_branch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하고자 할 때</a:t>
            </a:r>
            <a:r>
              <a:rPr lang="en-US" altLang="ko-KR" dirty="0" smtClean="0"/>
              <a:t>, HEAD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master</a:t>
            </a:r>
            <a:r>
              <a:rPr lang="ko-KR" altLang="en-US" dirty="0" smtClean="0"/>
              <a:t>에 위치시킴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err="1" smtClean="0"/>
              <a:t>브랜치</a:t>
            </a:r>
            <a:r>
              <a:rPr lang="ko-KR" altLang="en-US" dirty="0" smtClean="0"/>
              <a:t> 브라우저에서 </a:t>
            </a:r>
            <a:r>
              <a:rPr lang="en-US" altLang="ko-KR" dirty="0" err="1" smtClean="0"/>
              <a:t>test_branch</a:t>
            </a:r>
            <a:r>
              <a:rPr lang="ko-KR" altLang="en-US" dirty="0" smtClean="0"/>
              <a:t>선택 후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병합 실행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충돌이 발생하면 아래와 같이 오류 창이 발생하고 </a:t>
            </a:r>
            <a:r>
              <a:rPr lang="en-US" altLang="ko-KR" dirty="0" smtClean="0"/>
              <a:t>base</a:t>
            </a:r>
            <a:r>
              <a:rPr lang="ko-KR" altLang="en-US" dirty="0" smtClean="0"/>
              <a:t>와 비교했을 때 두 </a:t>
            </a:r>
            <a:r>
              <a:rPr lang="en-US" altLang="ko-KR" dirty="0" smtClean="0"/>
              <a:t>branch</a:t>
            </a:r>
            <a:r>
              <a:rPr lang="ko-KR" altLang="en-US" dirty="0"/>
              <a:t> </a:t>
            </a:r>
            <a:r>
              <a:rPr lang="ko-KR" altLang="en-US" dirty="0" smtClean="0"/>
              <a:t>모두 변경되어 충돌이 발생하였다고 표시된다</a:t>
            </a:r>
            <a:r>
              <a:rPr lang="en-US" altLang="ko-KR" dirty="0" smtClean="0"/>
              <a:t>.</a:t>
            </a:r>
            <a:r>
              <a:rPr lang="ko-KR" altLang="en-US" dirty="0" smtClean="0"/>
              <a:t> </a:t>
            </a:r>
            <a:r>
              <a:rPr lang="en-US" altLang="ko-KR" dirty="0" smtClean="0"/>
              <a:t>(</a:t>
            </a:r>
            <a:r>
              <a:rPr lang="en-US" altLang="ko-KR" dirty="0"/>
              <a:t>Simulink </a:t>
            </a:r>
            <a:r>
              <a:rPr lang="ko-KR" altLang="en-US" dirty="0"/>
              <a:t>또한 </a:t>
            </a:r>
            <a:r>
              <a:rPr lang="en-US" altLang="ko-KR" dirty="0"/>
              <a:t>3-way merge </a:t>
            </a:r>
            <a:r>
              <a:rPr lang="ko-KR" altLang="en-US" dirty="0"/>
              <a:t>기능을 </a:t>
            </a:r>
            <a:r>
              <a:rPr lang="ko-KR" altLang="en-US" dirty="0" smtClean="0"/>
              <a:t>수행</a:t>
            </a:r>
            <a:r>
              <a:rPr lang="en-US" altLang="ko-KR" dirty="0" smtClean="0"/>
              <a:t>)</a:t>
            </a:r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Merge(I)</a:t>
            </a:r>
            <a:endParaRPr lang="ko-KR" alt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1196752"/>
            <a:ext cx="3390900" cy="1009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664" y="3894693"/>
            <a:ext cx="2886844" cy="13389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2220" y="3933056"/>
            <a:ext cx="2847975" cy="161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68348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충돌 처리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충돌이 일어난 파일을 </a:t>
            </a:r>
            <a:r>
              <a:rPr lang="ko-KR" altLang="en-US" dirty="0" err="1" smtClean="0"/>
              <a:t>우클릭하여</a:t>
            </a:r>
            <a:r>
              <a:rPr lang="ko-KR" altLang="en-US" dirty="0" smtClean="0"/>
              <a:t> </a:t>
            </a:r>
            <a:r>
              <a:rPr lang="en-US" altLang="ko-KR" dirty="0" smtClean="0"/>
              <a:t>‘</a:t>
            </a:r>
            <a:r>
              <a:rPr lang="ko-KR" altLang="en-US" dirty="0" smtClean="0"/>
              <a:t>충돌보기</a:t>
            </a:r>
            <a:r>
              <a:rPr lang="en-US" altLang="ko-KR" dirty="0" smtClean="0"/>
              <a:t>’ </a:t>
            </a:r>
            <a:r>
              <a:rPr lang="ko-KR" altLang="en-US" dirty="0" smtClean="0"/>
              <a:t>수행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충돌보기를 수행하면 </a:t>
            </a:r>
            <a:r>
              <a:rPr lang="en-US" altLang="ko-KR" dirty="0" smtClean="0"/>
              <a:t>Simulink</a:t>
            </a:r>
            <a:r>
              <a:rPr lang="ko-KR" altLang="en-US" dirty="0" smtClean="0"/>
              <a:t>에서 자동으로 충돌 처리를 수행하지만</a:t>
            </a:r>
            <a:r>
              <a:rPr lang="en-US" altLang="ko-KR" dirty="0" smtClean="0"/>
              <a:t>, </a:t>
            </a:r>
            <a:r>
              <a:rPr lang="ko-KR" altLang="en-US" dirty="0" smtClean="0"/>
              <a:t>개발자의 의도와 맞는지 확인해야 함</a:t>
            </a: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Merge(II)</a:t>
            </a:r>
            <a:endParaRPr lang="ko-KR" alt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420889"/>
            <a:ext cx="9143999" cy="4032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15721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marL="0" indent="0">
              <a:buSzPct val="100000"/>
              <a:buNone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Head</a:t>
            </a:r>
            <a:r>
              <a:rPr lang="ko-KR" altLang="en-US" dirty="0" smtClean="0"/>
              <a:t>에 있던 </a:t>
            </a:r>
            <a:r>
              <a:rPr lang="ko-KR" altLang="en-US" dirty="0" smtClean="0"/>
              <a:t>파일 </a:t>
            </a:r>
            <a:r>
              <a:rPr lang="en-US" altLang="ko-KR" dirty="0" smtClean="0"/>
              <a:t>Mine, </a:t>
            </a:r>
            <a:r>
              <a:rPr lang="ko-KR" altLang="en-US" dirty="0" smtClean="0"/>
              <a:t>나머지 파일을 </a:t>
            </a:r>
            <a:r>
              <a:rPr lang="en-US" altLang="ko-KR" dirty="0" smtClean="0"/>
              <a:t>Theirs</a:t>
            </a:r>
            <a:r>
              <a:rPr lang="ko-KR" altLang="en-US" dirty="0" smtClean="0"/>
              <a:t>로 표시됨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오른쪽 </a:t>
            </a:r>
            <a:r>
              <a:rPr lang="en-US" altLang="ko-KR" dirty="0" smtClean="0"/>
              <a:t>2</a:t>
            </a:r>
            <a:r>
              <a:rPr lang="ko-KR" altLang="en-US" dirty="0" smtClean="0"/>
              <a:t>개의 </a:t>
            </a:r>
            <a:r>
              <a:rPr lang="en-US" altLang="ko-KR" dirty="0" smtClean="0"/>
              <a:t>model</a:t>
            </a:r>
            <a:r>
              <a:rPr lang="ko-KR" altLang="en-US" dirty="0" smtClean="0"/>
              <a:t>은 기본적으로 </a:t>
            </a:r>
            <a:r>
              <a:rPr lang="en-US" altLang="ko-KR" dirty="0" smtClean="0"/>
              <a:t>top model</a:t>
            </a:r>
            <a:r>
              <a:rPr lang="ko-KR" altLang="en-US" dirty="0" smtClean="0"/>
              <a:t>이 </a:t>
            </a:r>
            <a:r>
              <a:rPr lang="en-US" altLang="ko-KR" dirty="0" smtClean="0"/>
              <a:t>theirs, bottom model</a:t>
            </a:r>
            <a:r>
              <a:rPr lang="ko-KR" altLang="en-US" dirty="0" smtClean="0"/>
              <a:t>이 </a:t>
            </a:r>
            <a:r>
              <a:rPr lang="en-US" altLang="ko-KR" dirty="0" err="1" smtClean="0"/>
              <a:t>targetfile</a:t>
            </a:r>
            <a:r>
              <a:rPr lang="en-US" altLang="ko-KR" dirty="0" smtClean="0"/>
              <a:t>(merge </a:t>
            </a:r>
            <a:r>
              <a:rPr lang="ko-KR" altLang="en-US" dirty="0" smtClean="0"/>
              <a:t>결과 파일</a:t>
            </a:r>
            <a:r>
              <a:rPr lang="en-US" altLang="ko-KR" dirty="0" smtClean="0"/>
              <a:t>)</a:t>
            </a:r>
            <a:r>
              <a:rPr lang="ko-KR" altLang="en-US" dirty="0" smtClean="0"/>
              <a:t>로 설정되며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상단 </a:t>
            </a:r>
            <a:r>
              <a:rPr lang="en-US" altLang="ko-KR" dirty="0" smtClean="0"/>
              <a:t>highlight</a:t>
            </a:r>
            <a:r>
              <a:rPr lang="ko-KR" altLang="en-US" dirty="0" smtClean="0"/>
              <a:t>에서 설정가능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Merge(III)</a:t>
            </a:r>
            <a:endParaRPr lang="ko-KR" alt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182" y="595794"/>
            <a:ext cx="9143999" cy="41044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5733256"/>
            <a:ext cx="2933700" cy="723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87110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179512" y="747830"/>
            <a:ext cx="8482356" cy="5387542"/>
          </a:xfrm>
        </p:spPr>
        <p:txBody>
          <a:bodyPr/>
          <a:lstStyle/>
          <a:p>
            <a:pPr marL="0" indent="0">
              <a:buSzPct val="100000"/>
              <a:buNone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충돌 보기를 하였을 시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simulink</a:t>
            </a:r>
            <a:r>
              <a:rPr lang="ko-KR" altLang="en-US" dirty="0" smtClean="0"/>
              <a:t>에서 자동으로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해결한 </a:t>
            </a:r>
            <a:r>
              <a:rPr lang="en-US" altLang="ko-KR" dirty="0" smtClean="0"/>
              <a:t>target file</a:t>
            </a:r>
            <a:r>
              <a:rPr lang="ko-KR" altLang="en-US" dirty="0" smtClean="0"/>
              <a:t>이 위 그림과 같다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en-US" altLang="ko-KR" dirty="0" smtClean="0"/>
              <a:t>3-way merge</a:t>
            </a:r>
            <a:r>
              <a:rPr lang="ko-KR" altLang="en-US" dirty="0" smtClean="0"/>
              <a:t>를 사용하여 </a:t>
            </a:r>
            <a:r>
              <a:rPr lang="en-US" altLang="ko-KR" dirty="0" smtClean="0"/>
              <a:t>base</a:t>
            </a:r>
            <a:r>
              <a:rPr lang="ko-KR" altLang="en-US" dirty="0" smtClean="0"/>
              <a:t>와 모두 다른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component</a:t>
            </a:r>
            <a:r>
              <a:rPr lang="ko-KR" altLang="en-US" dirty="0" smtClean="0"/>
              <a:t>에 대해서 랜덤적으로 선택한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 결과이다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Merge(IV)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659025"/>
            <a:ext cx="3923928" cy="57561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425633" y="6088759"/>
            <a:ext cx="27363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latin typeface="Arial" panose="020B0604020202020204" pitchFamily="34" charset="0"/>
                <a:cs typeface="Arial" panose="020B0604020202020204" pitchFamily="34" charset="0"/>
              </a:rPr>
              <a:t>Theirs / Mine files</a:t>
            </a:r>
            <a:endParaRPr lang="ko-KR" altLang="en-US" sz="1600" b="1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675292"/>
            <a:ext cx="4629150" cy="207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/>
          <p:cNvSpPr txBox="1"/>
          <p:nvPr/>
        </p:nvSpPr>
        <p:spPr>
          <a:xfrm>
            <a:off x="2195736" y="2442896"/>
            <a:ext cx="27363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latin typeface="Arial" panose="020B0604020202020204" pitchFamily="34" charset="0"/>
                <a:cs typeface="Arial" panose="020B0604020202020204" pitchFamily="34" charset="0"/>
              </a:rPr>
              <a:t>Target file</a:t>
            </a:r>
            <a:endParaRPr lang="ko-KR" altLang="en-US" sz="1600" b="1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1166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marL="0" indent="0">
              <a:buSzPct val="100000"/>
              <a:buNone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개발자의 의도에 맞게 </a:t>
            </a:r>
            <a:r>
              <a:rPr lang="en-US" altLang="ko-KR" dirty="0" smtClean="0"/>
              <a:t>target</a:t>
            </a:r>
            <a:r>
              <a:rPr lang="ko-KR" altLang="en-US" dirty="0"/>
              <a:t> </a:t>
            </a:r>
            <a:r>
              <a:rPr lang="en-US" altLang="ko-KR" dirty="0" smtClean="0"/>
              <a:t>model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Mine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Theirs</a:t>
            </a:r>
            <a:r>
              <a:rPr lang="ko-KR" altLang="en-US" dirty="0" smtClean="0"/>
              <a:t>중</a:t>
            </a:r>
            <a:r>
              <a:rPr lang="ko-KR" altLang="en-US" dirty="0"/>
              <a:t>에</a:t>
            </a:r>
            <a:r>
              <a:rPr lang="ko-KR" altLang="en-US" dirty="0" smtClean="0"/>
              <a:t> 어떤 변경사항을 채택할 지 선택할 수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직접 오른쪽의 </a:t>
            </a:r>
            <a:r>
              <a:rPr lang="en-US" altLang="ko-KR" dirty="0" smtClean="0"/>
              <a:t>target</a:t>
            </a:r>
            <a:r>
              <a:rPr lang="ko-KR" altLang="en-US" dirty="0"/>
              <a:t> </a:t>
            </a:r>
            <a:r>
              <a:rPr lang="en-US" altLang="ko-KR" dirty="0" smtClean="0"/>
              <a:t>model</a:t>
            </a:r>
            <a:r>
              <a:rPr lang="ko-KR" altLang="en-US" dirty="0" smtClean="0"/>
              <a:t>을 수정하여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할 수도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en-US" altLang="ko-KR" dirty="0" smtClean="0"/>
              <a:t>Target model</a:t>
            </a:r>
            <a:r>
              <a:rPr lang="ko-KR" altLang="en-US" dirty="0" smtClean="0"/>
              <a:t>수정을 한 후 </a:t>
            </a:r>
            <a:r>
              <a:rPr lang="en-US" altLang="ko-KR" dirty="0" smtClean="0"/>
              <a:t>‘</a:t>
            </a:r>
            <a:r>
              <a:rPr lang="ko-KR" altLang="en-US" dirty="0" smtClean="0"/>
              <a:t>적용 후 닫기</a:t>
            </a:r>
            <a:r>
              <a:rPr lang="en-US" altLang="ko-KR" dirty="0" smtClean="0"/>
              <a:t>’</a:t>
            </a:r>
            <a:r>
              <a:rPr lang="ko-KR" altLang="en-US" dirty="0" smtClean="0"/>
              <a:t>를</a:t>
            </a:r>
            <a:r>
              <a:rPr lang="en-US" altLang="ko-KR" dirty="0"/>
              <a:t> </a:t>
            </a:r>
            <a:r>
              <a:rPr lang="ko-KR" altLang="en-US" dirty="0" smtClean="0"/>
              <a:t>하여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를 완료하면 </a:t>
            </a:r>
            <a:r>
              <a:rPr lang="en-US" altLang="ko-KR" dirty="0" smtClean="0"/>
              <a:t>commit</a:t>
            </a:r>
            <a:r>
              <a:rPr lang="ko-KR" altLang="en-US" dirty="0"/>
              <a:t> </a:t>
            </a:r>
            <a:r>
              <a:rPr lang="ko-KR" altLang="en-US" dirty="0" smtClean="0"/>
              <a:t>준비가 됨</a:t>
            </a:r>
            <a:r>
              <a:rPr lang="en-US" altLang="ko-KR" dirty="0" smtClean="0"/>
              <a:t>.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Merge(V)</a:t>
            </a:r>
            <a:endParaRPr lang="ko-KR" altLang="en-US" dirty="0"/>
          </a:p>
        </p:txBody>
      </p:sp>
      <p:grpSp>
        <p:nvGrpSpPr>
          <p:cNvPr id="7" name="그룹 6"/>
          <p:cNvGrpSpPr/>
          <p:nvPr/>
        </p:nvGrpSpPr>
        <p:grpSpPr>
          <a:xfrm>
            <a:off x="-7182" y="595794"/>
            <a:ext cx="9143999" cy="4104456"/>
            <a:chOff x="-7182" y="595794"/>
            <a:chExt cx="9143999" cy="4104456"/>
          </a:xfrm>
        </p:grpSpPr>
        <p:pic>
          <p:nvPicPr>
            <p:cNvPr id="8194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7182" y="595794"/>
              <a:ext cx="9143999" cy="41044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" name="직사각형 3"/>
            <p:cNvSpPr/>
            <p:nvPr/>
          </p:nvSpPr>
          <p:spPr>
            <a:xfrm>
              <a:off x="2411760" y="2852936"/>
              <a:ext cx="864096" cy="1800200"/>
            </a:xfrm>
            <a:prstGeom prst="rect">
              <a:avLst/>
            </a:prstGeom>
            <a:grpFill/>
            <a:ln w="28575">
              <a:solidFill>
                <a:srgbClr val="FF0000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" name="그룹 5"/>
          <p:cNvGrpSpPr/>
          <p:nvPr/>
        </p:nvGrpSpPr>
        <p:grpSpPr>
          <a:xfrm>
            <a:off x="1979712" y="6192465"/>
            <a:ext cx="2141232" cy="146947"/>
            <a:chOff x="918600" y="6165303"/>
            <a:chExt cx="2141232" cy="146947"/>
          </a:xfrm>
        </p:grpSpPr>
        <p:pic>
          <p:nvPicPr>
            <p:cNvPr id="9219" name="Picture 3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8600" y="6165303"/>
              <a:ext cx="2141232" cy="14694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" name="직사각형 4"/>
            <p:cNvSpPr/>
            <p:nvPr/>
          </p:nvSpPr>
          <p:spPr>
            <a:xfrm>
              <a:off x="918600" y="6165303"/>
              <a:ext cx="2141232" cy="146947"/>
            </a:xfrm>
            <a:prstGeom prst="rect">
              <a:avLst/>
            </a:prstGeom>
            <a:grpFill/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85624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Merge </a:t>
            </a:r>
            <a:r>
              <a:rPr lang="ko-KR" altLang="en-US" dirty="0" smtClean="0"/>
              <a:t>결과</a:t>
            </a: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Merge(VI)</a:t>
            </a:r>
            <a:endParaRPr lang="ko-KR" alt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0" y="1340768"/>
            <a:ext cx="9144000" cy="43013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55663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Stash</a:t>
            </a:r>
          </a:p>
          <a:p>
            <a:pPr lvl="1">
              <a:buSzPct val="100000"/>
            </a:pPr>
            <a:r>
              <a:rPr lang="ko-KR" altLang="en-US" dirty="0" smtClean="0"/>
              <a:t>현재 </a:t>
            </a:r>
            <a:r>
              <a:rPr lang="en-US" altLang="ko-KR" dirty="0" smtClean="0"/>
              <a:t>working area</a:t>
            </a:r>
            <a:r>
              <a:rPr lang="ko-KR" altLang="en-US" dirty="0" smtClean="0"/>
              <a:t>에 존재하는 변경 사항을 임시 저장하여 이후에 불러올 수 있는 기능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현재 </a:t>
            </a:r>
            <a:r>
              <a:rPr lang="en-US" altLang="ko-KR" dirty="0" smtClean="0"/>
              <a:t>master branch</a:t>
            </a:r>
            <a:r>
              <a:rPr lang="ko-KR" altLang="en-US" dirty="0" smtClean="0"/>
              <a:t>에서 작업을 진행하다가 다른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로 이동하는 경우에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변경내용을 잃는 것을 원하지 않을 때나 현재 작업 내용을 다른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에서도 사용하고 싶을 때 용이함</a:t>
            </a:r>
            <a:endParaRPr lang="en-US" altLang="ko-KR" dirty="0" smtClean="0"/>
          </a:p>
          <a:p>
            <a:pPr marL="455612" lvl="1" indent="0">
              <a:buSzPct val="100000"/>
              <a:buNone/>
            </a:pPr>
            <a:endParaRPr lang="en-US" altLang="ko-KR" dirty="0" smtClean="0"/>
          </a:p>
          <a:p>
            <a:pPr marL="455612" lvl="1" indent="0">
              <a:buSzPct val="100000"/>
              <a:buNone/>
            </a:pP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변경 사항이 있을 때 </a:t>
            </a:r>
            <a:r>
              <a:rPr lang="en-US" altLang="ko-KR" dirty="0" smtClean="0"/>
              <a:t>stash</a:t>
            </a:r>
            <a:r>
              <a:rPr lang="ko-KR" altLang="en-US" dirty="0" smtClean="0"/>
              <a:t>를 생성하면 </a:t>
            </a:r>
            <a:r>
              <a:rPr lang="en-US" altLang="ko-KR" dirty="0" smtClean="0"/>
              <a:t>‘</a:t>
            </a:r>
            <a:r>
              <a:rPr lang="ko-KR" altLang="en-US" dirty="0" smtClean="0"/>
              <a:t>사용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가능한 </a:t>
            </a:r>
            <a:r>
              <a:rPr lang="ko-KR" altLang="en-US" dirty="0" err="1" smtClean="0"/>
              <a:t>스태시</a:t>
            </a:r>
            <a:r>
              <a:rPr lang="en-US" altLang="ko-KR" dirty="0" smtClean="0"/>
              <a:t>’ (stash list)</a:t>
            </a:r>
            <a:r>
              <a:rPr lang="ko-KR" altLang="en-US" dirty="0" smtClean="0"/>
              <a:t>에 </a:t>
            </a:r>
            <a:r>
              <a:rPr lang="en-US" altLang="ko-KR" dirty="0" smtClean="0"/>
              <a:t>stash</a:t>
            </a:r>
            <a:r>
              <a:rPr lang="ko-KR" altLang="en-US" dirty="0" smtClean="0"/>
              <a:t>가 저장되고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local </a:t>
            </a:r>
            <a:r>
              <a:rPr lang="ko-KR" altLang="en-US" dirty="0" smtClean="0"/>
              <a:t>파일들은 변경되기 전으로 복원된다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수정 사항에 파일들이 표시되며 파일을 </a:t>
            </a:r>
            <a:r>
              <a:rPr lang="ko-KR" altLang="en-US" dirty="0" err="1" smtClean="0"/>
              <a:t>우클릭하여</a:t>
            </a:r>
            <a:r>
              <a:rPr lang="ko-KR" altLang="en-US" dirty="0" smtClean="0"/>
              <a:t> 현재 </a:t>
            </a:r>
            <a:r>
              <a:rPr lang="en-US" altLang="ko-KR" dirty="0" smtClean="0"/>
              <a:t>local </a:t>
            </a:r>
            <a:r>
              <a:rPr lang="ko-KR" altLang="en-US" dirty="0" smtClean="0"/>
              <a:t>파일과 비교를 할 수도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7. Stash(I)</a:t>
            </a:r>
            <a:endParaRPr lang="ko-KR" altLang="en-US" dirty="0"/>
          </a:p>
        </p:txBody>
      </p:sp>
      <p:grpSp>
        <p:nvGrpSpPr>
          <p:cNvPr id="5" name="그룹 4"/>
          <p:cNvGrpSpPr/>
          <p:nvPr/>
        </p:nvGrpSpPr>
        <p:grpSpPr>
          <a:xfrm>
            <a:off x="2714997" y="3237731"/>
            <a:ext cx="2505075" cy="695325"/>
            <a:chOff x="683568" y="3212975"/>
            <a:chExt cx="2505075" cy="695325"/>
          </a:xfrm>
        </p:grpSpPr>
        <p:pic>
          <p:nvPicPr>
            <p:cNvPr id="10242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3568" y="3212975"/>
              <a:ext cx="2505075" cy="6953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" name="직사각형 3"/>
            <p:cNvSpPr/>
            <p:nvPr/>
          </p:nvSpPr>
          <p:spPr>
            <a:xfrm>
              <a:off x="2411760" y="3560637"/>
              <a:ext cx="776883" cy="228403"/>
            </a:xfrm>
            <a:prstGeom prst="rect">
              <a:avLst/>
            </a:prstGeom>
            <a:grpFill/>
            <a:ln w="28575">
              <a:solidFill>
                <a:srgbClr val="FF0000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5960" y="3208036"/>
            <a:ext cx="3944552" cy="1861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87157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marL="0" indent="0">
              <a:buSzPct val="100000"/>
              <a:buNone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팝 </a:t>
            </a:r>
            <a:r>
              <a:rPr lang="en-US" altLang="ko-KR" dirty="0" smtClean="0"/>
              <a:t>: stash</a:t>
            </a:r>
            <a:r>
              <a:rPr lang="ko-KR" altLang="en-US" dirty="0" smtClean="0"/>
              <a:t>된 변경 사항을 파일 시스템에 적용하고 </a:t>
            </a:r>
            <a:r>
              <a:rPr lang="en-US" altLang="ko-KR" dirty="0" smtClean="0"/>
              <a:t>stash list</a:t>
            </a:r>
            <a:r>
              <a:rPr lang="ko-KR" altLang="en-US" dirty="0" smtClean="0"/>
              <a:t>에서 제거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적용 </a:t>
            </a:r>
            <a:r>
              <a:rPr lang="en-US" altLang="ko-KR" dirty="0" smtClean="0"/>
              <a:t>: stash</a:t>
            </a:r>
            <a:r>
              <a:rPr lang="ko-KR" altLang="en-US" dirty="0" smtClean="0"/>
              <a:t>된 변경 사항을 파일 시스템에 적용하고 </a:t>
            </a:r>
            <a:r>
              <a:rPr lang="en-US" altLang="ko-KR" dirty="0" smtClean="0"/>
              <a:t>stash</a:t>
            </a:r>
            <a:r>
              <a:rPr lang="ko-KR" altLang="en-US" dirty="0" smtClean="0"/>
              <a:t>유지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err="1" smtClean="0"/>
              <a:t>드롭</a:t>
            </a:r>
            <a:r>
              <a:rPr lang="ko-KR" altLang="en-US" dirty="0" smtClean="0"/>
              <a:t> </a:t>
            </a:r>
            <a:r>
              <a:rPr lang="en-US" altLang="ko-KR" dirty="0" smtClean="0"/>
              <a:t>: stash list</a:t>
            </a:r>
            <a:r>
              <a:rPr lang="ko-KR" altLang="en-US" dirty="0" smtClean="0"/>
              <a:t>에서 해당 </a:t>
            </a:r>
            <a:r>
              <a:rPr lang="en-US" altLang="ko-KR" dirty="0" smtClean="0"/>
              <a:t>stash</a:t>
            </a:r>
            <a:r>
              <a:rPr lang="ko-KR" altLang="en-US" dirty="0" smtClean="0"/>
              <a:t>삭제</a:t>
            </a:r>
            <a:endParaRPr lang="en-US" altLang="ko-KR" dirty="0" smtClean="0"/>
          </a:p>
          <a:p>
            <a:pPr marL="455612" lvl="1" indent="0">
              <a:buSzPct val="100000"/>
              <a:buNone/>
            </a:pPr>
            <a:endParaRPr lang="en-US" altLang="ko-KR" dirty="0" smtClean="0"/>
          </a:p>
          <a:p>
            <a:pPr marL="455612" lvl="1" indent="0">
              <a:buSzPct val="100000"/>
              <a:buNone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7. Stash(II)</a:t>
            </a:r>
            <a:endParaRPr lang="ko-KR" altLang="en-US" dirty="0"/>
          </a:p>
        </p:txBody>
      </p:sp>
      <p:grpSp>
        <p:nvGrpSpPr>
          <p:cNvPr id="7" name="그룹 6"/>
          <p:cNvGrpSpPr/>
          <p:nvPr/>
        </p:nvGrpSpPr>
        <p:grpSpPr>
          <a:xfrm>
            <a:off x="611560" y="1351037"/>
            <a:ext cx="3944552" cy="1861939"/>
            <a:chOff x="611560" y="1351037"/>
            <a:chExt cx="3944552" cy="1861939"/>
          </a:xfrm>
        </p:grpSpPr>
        <p:pic>
          <p:nvPicPr>
            <p:cNvPr id="10243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1560" y="1351037"/>
              <a:ext cx="3944552" cy="18619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" name="직사각형 5"/>
            <p:cNvSpPr/>
            <p:nvPr/>
          </p:nvSpPr>
          <p:spPr>
            <a:xfrm>
              <a:off x="3419872" y="2420888"/>
              <a:ext cx="1136240" cy="216024"/>
            </a:xfrm>
            <a:prstGeom prst="rect">
              <a:avLst/>
            </a:prstGeom>
            <a:grpFill/>
            <a:ln w="28575">
              <a:solidFill>
                <a:srgbClr val="FF0000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9282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Fetch</a:t>
            </a:r>
          </a:p>
          <a:p>
            <a:pPr lvl="1">
              <a:buSzPct val="100000"/>
            </a:pPr>
            <a:r>
              <a:rPr lang="ko-KR" altLang="en-US" dirty="0" smtClean="0"/>
              <a:t>연결된 원격 저장소에서 파일들을 불러</a:t>
            </a:r>
            <a:r>
              <a:rPr lang="ko-KR" altLang="en-US" dirty="0"/>
              <a:t>옴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Local branch</a:t>
            </a:r>
            <a:r>
              <a:rPr lang="ko-KR" altLang="en-US" dirty="0" smtClean="0"/>
              <a:t>가 가리키는 곳은 변경되지 않고</a:t>
            </a:r>
            <a:r>
              <a:rPr lang="en-US" altLang="ko-KR" dirty="0" smtClean="0"/>
              <a:t>, remote branch</a:t>
            </a:r>
            <a:r>
              <a:rPr lang="ko-KR" altLang="en-US" dirty="0" smtClean="0"/>
              <a:t>만 </a:t>
            </a:r>
            <a:r>
              <a:rPr lang="en-US" altLang="ko-KR" dirty="0" smtClean="0"/>
              <a:t>update</a:t>
            </a:r>
          </a:p>
          <a:p>
            <a:pPr>
              <a:buSzPct val="100000"/>
            </a:pPr>
            <a:r>
              <a:rPr lang="en-US" altLang="ko-KR" dirty="0" smtClean="0"/>
              <a:t>Push</a:t>
            </a:r>
          </a:p>
          <a:p>
            <a:pPr lvl="1">
              <a:buSzPct val="100000"/>
            </a:pPr>
            <a:r>
              <a:rPr lang="en-US" altLang="ko-KR" dirty="0" smtClean="0"/>
              <a:t>Local</a:t>
            </a:r>
            <a:r>
              <a:rPr lang="ko-KR" altLang="en-US" dirty="0" smtClean="0"/>
              <a:t>에서 수정된 사항들을 원격저장소에 저장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위와 같이 </a:t>
            </a:r>
            <a:r>
              <a:rPr lang="en-US" altLang="ko-KR" dirty="0" err="1" smtClean="0"/>
              <a:t>github</a:t>
            </a:r>
            <a:r>
              <a:rPr lang="ko-KR" altLang="en-US" dirty="0" smtClean="0"/>
              <a:t>의 계정 정보를 입력하면 </a:t>
            </a:r>
            <a:r>
              <a:rPr lang="en-US" altLang="ko-KR" dirty="0" smtClean="0"/>
              <a:t>push</a:t>
            </a:r>
            <a:r>
              <a:rPr lang="ko-KR" altLang="en-US" dirty="0" smtClean="0"/>
              <a:t>가 수행 되고 </a:t>
            </a:r>
            <a:r>
              <a:rPr lang="en-US" altLang="ko-KR" dirty="0" smtClean="0"/>
              <a:t>origin/master</a:t>
            </a:r>
            <a:r>
              <a:rPr lang="ko-KR" altLang="en-US" dirty="0" smtClean="0"/>
              <a:t>가 해당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가리킴</a:t>
            </a:r>
            <a:endParaRPr lang="en-US" altLang="ko-KR" dirty="0"/>
          </a:p>
          <a:p>
            <a:pPr>
              <a:buSzPct val="100000"/>
            </a:pPr>
            <a:r>
              <a:rPr lang="en-US" altLang="ko-KR" dirty="0" smtClean="0"/>
              <a:t>Pull</a:t>
            </a:r>
          </a:p>
          <a:p>
            <a:pPr lvl="1">
              <a:buSzPct val="100000"/>
            </a:pPr>
            <a:r>
              <a:rPr lang="ko-KR" altLang="en-US" dirty="0" smtClean="0"/>
              <a:t>원격저장소로부터 파일들을 불러오면서 현재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 병합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Pull = Fetch + Merge</a:t>
            </a:r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8</a:t>
            </a:r>
            <a:r>
              <a:rPr lang="en-US" altLang="ko-KR" dirty="0" smtClean="0"/>
              <a:t>. Fetch, Push, Pull</a:t>
            </a:r>
            <a:endParaRPr lang="ko-KR" altLang="en-US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745183"/>
            <a:ext cx="1104900" cy="71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26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325" y="2975950"/>
            <a:ext cx="2016224" cy="10291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그룹 7"/>
          <p:cNvGrpSpPr/>
          <p:nvPr/>
        </p:nvGrpSpPr>
        <p:grpSpPr>
          <a:xfrm>
            <a:off x="3347864" y="3047958"/>
            <a:ext cx="2838450" cy="829047"/>
            <a:chOff x="3347864" y="3047958"/>
            <a:chExt cx="2838450" cy="829047"/>
          </a:xfrm>
        </p:grpSpPr>
        <p:pic>
          <p:nvPicPr>
            <p:cNvPr id="11268" name="Picture 4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221"/>
            <a:stretch/>
          </p:blipFill>
          <p:spPr bwMode="auto">
            <a:xfrm>
              <a:off x="3347864" y="3047958"/>
              <a:ext cx="2718639" cy="1905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269" name="Picture 5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66914" y="3696030"/>
              <a:ext cx="2819400" cy="180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5" name="직선 화살표 연결선 4"/>
            <p:cNvCxnSpPr/>
            <p:nvPr/>
          </p:nvCxnSpPr>
          <p:spPr>
            <a:xfrm>
              <a:off x="4716016" y="3263982"/>
              <a:ext cx="0" cy="36004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39539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Tag</a:t>
            </a:r>
          </a:p>
          <a:p>
            <a:pPr lvl="1">
              <a:buSzPct val="100000"/>
            </a:pPr>
            <a:r>
              <a:rPr lang="en-US" altLang="ko-KR" dirty="0" smtClean="0"/>
              <a:t>Simulink</a:t>
            </a:r>
            <a:r>
              <a:rPr lang="ko-KR" altLang="en-US" dirty="0" smtClean="0"/>
              <a:t>에서 생성한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하여도 원격저장소에 저장되지 않는다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en-US" altLang="ko-KR" dirty="0" smtClean="0"/>
              <a:t>Simulink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삭제할 수 없다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bash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‘list’</a:t>
            </a:r>
            <a:r>
              <a:rPr lang="ko-KR" altLang="en-US" dirty="0" smtClean="0"/>
              <a:t>라는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생성하고 해당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</a:t>
            </a:r>
            <a:r>
              <a:rPr lang="en-US" altLang="ko-KR" dirty="0" smtClean="0"/>
              <a:t>Simulink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pull</a:t>
            </a:r>
            <a:r>
              <a:rPr lang="ko-KR" altLang="en-US" dirty="0" smtClean="0"/>
              <a:t>을 하여 불러온 후</a:t>
            </a:r>
            <a:r>
              <a:rPr lang="en-US" altLang="ko-KR" dirty="0" smtClean="0"/>
              <a:t>, ‘another’</a:t>
            </a:r>
            <a:r>
              <a:rPr lang="ko-KR" altLang="en-US" dirty="0" smtClean="0"/>
              <a:t>라는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생성하였을 때 위와 같이 서로 다른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가 존재하게 된다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원격 저장소로부터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pull</a:t>
            </a:r>
            <a:r>
              <a:rPr lang="ko-KR" altLang="en-US" dirty="0" smtClean="0"/>
              <a:t>한 상태에서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bash</a:t>
            </a:r>
            <a:r>
              <a:rPr lang="ko-KR" altLang="en-US" dirty="0" smtClean="0"/>
              <a:t>를 통해 해당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원격저장소에서 삭제하여도 </a:t>
            </a:r>
            <a:r>
              <a:rPr lang="en-US" altLang="ko-KR" dirty="0" err="1" smtClean="0"/>
              <a:t>simulink</a:t>
            </a:r>
            <a:r>
              <a:rPr lang="ko-KR" altLang="en-US" dirty="0" smtClean="0"/>
              <a:t>에서 삭제된 사실이 반영되지 않는다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위의 예를 들었을 때</a:t>
            </a:r>
            <a:r>
              <a:rPr lang="en-US" altLang="ko-KR" dirty="0" smtClean="0"/>
              <a:t>, ‘list’ tag</a:t>
            </a:r>
            <a:r>
              <a:rPr lang="ko-KR" altLang="en-US" dirty="0" smtClean="0"/>
              <a:t>를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bash</a:t>
            </a:r>
            <a:r>
              <a:rPr lang="ko-KR" altLang="en-US" dirty="0" smtClean="0"/>
              <a:t>를 통해 원격저장소로부터 삭제를 한 후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simulink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pull</a:t>
            </a:r>
            <a:r>
              <a:rPr lang="ko-KR" altLang="en-US" dirty="0" smtClean="0"/>
              <a:t>을 하여도 </a:t>
            </a:r>
            <a:r>
              <a:rPr lang="en-US" altLang="ko-KR" dirty="0" err="1" smtClean="0"/>
              <a:t>simulink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‘list’</a:t>
            </a:r>
            <a:r>
              <a:rPr lang="ko-KR" altLang="en-US" dirty="0" smtClean="0"/>
              <a:t>라는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는 삭제되지 않는다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endParaRPr lang="en-US" altLang="ko-KR" dirty="0" smtClean="0"/>
          </a:p>
          <a:p>
            <a:pPr marL="0" indent="0">
              <a:buSzPct val="100000"/>
              <a:buNone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결론적으로</a:t>
            </a:r>
            <a:r>
              <a:rPr lang="en-US" altLang="ko-KR" dirty="0" smtClean="0"/>
              <a:t>, Simulink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사용하기보단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bash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사용하는 것이 좋으며</a:t>
            </a:r>
            <a:r>
              <a:rPr lang="en-US" altLang="ko-KR" dirty="0" smtClean="0"/>
              <a:t>, </a:t>
            </a:r>
            <a:r>
              <a:rPr lang="ko-KR" altLang="en-US" dirty="0" smtClean="0"/>
              <a:t>한번 </a:t>
            </a:r>
            <a:r>
              <a:rPr lang="en-US" altLang="ko-KR" dirty="0" smtClean="0"/>
              <a:t>push</a:t>
            </a:r>
            <a:r>
              <a:rPr lang="ko-KR" altLang="en-US" dirty="0" smtClean="0"/>
              <a:t>된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수정하면 </a:t>
            </a:r>
            <a:r>
              <a:rPr lang="en-US" altLang="ko-KR" dirty="0" smtClean="0"/>
              <a:t>Simulink</a:t>
            </a:r>
            <a:r>
              <a:rPr lang="ko-KR" altLang="en-US" dirty="0" smtClean="0"/>
              <a:t>에서 삭제는 반영이 되지 않고 추가만 되기 때문에 주의할 필요가 있다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9</a:t>
            </a:r>
            <a:r>
              <a:rPr lang="en-US" altLang="ko-KR" smtClean="0"/>
              <a:t>. Tag </a:t>
            </a:r>
            <a:r>
              <a:rPr lang="ko-KR" altLang="en-US" smtClean="0"/>
              <a:t>유의사항</a:t>
            </a:r>
            <a:endParaRPr lang="ko-KR" alt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6592" y="1944836"/>
            <a:ext cx="2695575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4437112"/>
            <a:ext cx="67056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5" name="그룹 14"/>
          <p:cNvGrpSpPr/>
          <p:nvPr/>
        </p:nvGrpSpPr>
        <p:grpSpPr>
          <a:xfrm>
            <a:off x="971600" y="4725144"/>
            <a:ext cx="7067550" cy="457200"/>
            <a:chOff x="971600" y="4725144"/>
            <a:chExt cx="7067550" cy="457200"/>
          </a:xfrm>
        </p:grpSpPr>
        <p:pic>
          <p:nvPicPr>
            <p:cNvPr id="4100" name="Picture 4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600" y="4725144"/>
              <a:ext cx="7067550" cy="457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13" name="직선 연결선 12"/>
            <p:cNvCxnSpPr/>
            <p:nvPr/>
          </p:nvCxnSpPr>
          <p:spPr>
            <a:xfrm>
              <a:off x="6228184" y="5085184"/>
              <a:ext cx="50405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1773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control_works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2_CWI Black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control_works</Template>
  <TotalTime>1022</TotalTime>
  <Words>1071</Words>
  <Application>Microsoft Office PowerPoint</Application>
  <PresentationFormat>화면 슬라이드 쇼(4:3)</PresentationFormat>
  <Paragraphs>235</Paragraphs>
  <Slides>22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22</vt:i4>
      </vt:variant>
    </vt:vector>
  </HeadingPairs>
  <TitlesOfParts>
    <vt:vector size="24" baseType="lpstr">
      <vt:lpstr>control_works</vt:lpstr>
      <vt:lpstr>2_CWI Black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NB09</dc:creator>
  <cp:lastModifiedBy>NB09</cp:lastModifiedBy>
  <cp:revision>106</cp:revision>
  <dcterms:created xsi:type="dcterms:W3CDTF">2019-12-31T00:27:19Z</dcterms:created>
  <dcterms:modified xsi:type="dcterms:W3CDTF">2020-02-03T07:08:02Z</dcterms:modified>
</cp:coreProperties>
</file>